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71" r:id="rId3"/>
    <p:sldId id="272" r:id="rId5"/>
    <p:sldId id="256" r:id="rId6"/>
    <p:sldId id="270" r:id="rId7"/>
    <p:sldId id="257" r:id="rId8"/>
    <p:sldId id="258" r:id="rId9"/>
    <p:sldId id="259" r:id="rId10"/>
    <p:sldId id="260" r:id="rId11"/>
    <p:sldId id="261" r:id="rId12"/>
    <p:sldId id="263" r:id="rId13"/>
    <p:sldId id="264" r:id="rId14"/>
    <p:sldId id="266" r:id="rId15"/>
    <p:sldId id="262" r:id="rId16"/>
    <p:sldId id="268" r:id="rId17"/>
    <p:sldId id="269" r:id="rId18"/>
  </p:sldIdLst>
  <p:sldSz cx="5039995" cy="5039995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3FC5"/>
    <a:srgbClr val="FD33FB"/>
    <a:srgbClr val="FF3300"/>
    <a:srgbClr val="B2B2B2"/>
    <a:srgbClr val="202020"/>
    <a:srgbClr val="323232"/>
    <a:srgbClr val="CC3300"/>
    <a:srgbClr val="CC00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1549"/>
        <p:guide pos="159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1825625" y="1279525"/>
            <a:ext cx="34544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2-3_磁单极积分为0.png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" altLang="zh-CN"/>
              <a:t>2-3_</a:t>
            </a:r>
            <a:r>
              <a:rPr lang="zh-CN" altLang=""/>
              <a:t>磁偶极等于环路电流乘以面积</a:t>
            </a:r>
            <a:endParaRPr lang="zh-CN" altLang="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波矢，任意传播方向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en-US"/>
              <a:t>4.7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4.9 </a:t>
            </a:r>
            <a:r>
              <a:rPr lang="zh-CN" altLang="en-US"/>
              <a:t>金属二维波导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4.9 </a:t>
            </a:r>
            <a:r>
              <a:rPr lang="zh-CN" altLang="en-US"/>
              <a:t>二维波导</a:t>
            </a:r>
            <a:r>
              <a:rPr lang="en-US" altLang="zh-CN"/>
              <a:t> </a:t>
            </a:r>
            <a:r>
              <a:rPr lang="zh-CN" altLang="en-US"/>
              <a:t>相位差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4.9 </a:t>
            </a:r>
            <a:r>
              <a:rPr lang="zh-CN" altLang="en-US"/>
              <a:t>介质二维波导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4.11 </a:t>
            </a:r>
            <a:r>
              <a:rPr lang="zh-CN" altLang="en-US"/>
              <a:t>介质波导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5.3 </a:t>
            </a:r>
            <a:r>
              <a:rPr lang="zh-CN" altLang="en-US"/>
              <a:t>场点到场源距离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5.3 </a:t>
            </a:r>
            <a:r>
              <a:rPr lang="zh-CN" altLang="en-US"/>
              <a:t>偶极振荡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 hasCustomPrompt="true"/>
          </p:nvPr>
        </p:nvSpPr>
        <p:spPr>
          <a:xfrm>
            <a:off x="630166" y="972512"/>
            <a:ext cx="3780996" cy="1607668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331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 hasCustomPrompt="true"/>
          </p:nvPr>
        </p:nvSpPr>
        <p:spPr>
          <a:xfrm>
            <a:off x="630166" y="2647865"/>
            <a:ext cx="3780996" cy="1217154"/>
          </a:xfrm>
        </p:spPr>
        <p:txBody>
          <a:bodyPr>
            <a:normAutofit/>
          </a:bodyPr>
          <a:lstStyle>
            <a:lvl1pPr marL="0" indent="0" algn="ctr">
              <a:buNone/>
              <a:defRPr sz="995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252095" indent="0" algn="ctr">
              <a:buNone/>
              <a:defRPr sz="1100"/>
            </a:lvl2pPr>
            <a:lvl3pPr marL="503555" indent="0" algn="ctr">
              <a:buNone/>
              <a:defRPr sz="995"/>
            </a:lvl3pPr>
            <a:lvl4pPr marL="756285" indent="0" algn="ctr">
              <a:buNone/>
              <a:defRPr sz="880"/>
            </a:lvl4pPr>
            <a:lvl5pPr marL="1008380" indent="0" algn="ctr">
              <a:buNone/>
              <a:defRPr sz="880"/>
            </a:lvl5pPr>
            <a:lvl6pPr marL="1259840" indent="0" algn="ctr">
              <a:buNone/>
              <a:defRPr sz="880"/>
            </a:lvl6pPr>
            <a:lvl7pPr marL="1511935" indent="0" algn="ctr">
              <a:buNone/>
              <a:defRPr sz="880"/>
            </a:lvl7pPr>
            <a:lvl8pPr marL="1764665" indent="0" algn="ctr">
              <a:buNone/>
              <a:defRPr sz="880"/>
            </a:lvl8pPr>
            <a:lvl9pPr marL="2016760" indent="0" algn="ctr">
              <a:buNone/>
              <a:defRPr sz="88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267821" y="189983"/>
            <a:ext cx="4348146" cy="974424"/>
          </a:xfrm>
        </p:spPr>
        <p:txBody>
          <a:bodyPr anchor="ctr" anchorCtr="false">
            <a:normAutofit/>
          </a:bodyPr>
          <a:lstStyle>
            <a:lvl1pPr>
              <a:defRPr sz="132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267821" y="1342021"/>
            <a:ext cx="4348146" cy="3198677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9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343966" y="2757454"/>
            <a:ext cx="3027423" cy="596430"/>
          </a:xfrm>
        </p:spPr>
        <p:txBody>
          <a:bodyPr anchor="b">
            <a:normAutofit/>
          </a:bodyPr>
          <a:lstStyle>
            <a:lvl1pPr>
              <a:defRPr sz="221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343966" y="3388840"/>
            <a:ext cx="3027423" cy="476019"/>
          </a:xfrm>
        </p:spPr>
        <p:txBody>
          <a:bodyPr>
            <a:normAutofit/>
          </a:bodyPr>
          <a:lstStyle>
            <a:lvl1pPr marL="0" indent="0">
              <a:buNone/>
              <a:defRPr sz="995">
                <a:solidFill>
                  <a:schemeClr val="tx1"/>
                </a:solidFill>
              </a:defRPr>
            </a:lvl1pPr>
            <a:lvl2pPr marL="25209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03555" indent="0">
              <a:buNone/>
              <a:defRPr sz="995">
                <a:solidFill>
                  <a:schemeClr val="tx1">
                    <a:tint val="75000"/>
                  </a:schemeClr>
                </a:solidFill>
              </a:defRPr>
            </a:lvl3pPr>
            <a:lvl4pPr marL="756285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4pPr>
            <a:lvl5pPr marL="100838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5pPr>
            <a:lvl6pPr marL="125984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6pPr>
            <a:lvl7pPr marL="1511935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7pPr>
            <a:lvl8pPr marL="1764665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8pPr>
            <a:lvl9pPr marL="2016760" indent="0">
              <a:buNone/>
              <a:defRPr sz="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267821" y="189983"/>
            <a:ext cx="4348146" cy="974424"/>
          </a:xfrm>
        </p:spPr>
        <p:txBody>
          <a:bodyPr>
            <a:normAutofit/>
          </a:bodyPr>
          <a:lstStyle>
            <a:lvl1pPr>
              <a:defRPr sz="132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267821" y="1342021"/>
            <a:ext cx="2142565" cy="319867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99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2473402" y="1342021"/>
            <a:ext cx="2142565" cy="319867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99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88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347248" y="268404"/>
            <a:ext cx="4348146" cy="97442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347248" y="1282724"/>
            <a:ext cx="2132718" cy="605659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2095" indent="0">
              <a:buNone/>
              <a:defRPr sz="1100" b="1"/>
            </a:lvl2pPr>
            <a:lvl3pPr marL="503555" indent="0">
              <a:buNone/>
              <a:defRPr sz="995" b="1"/>
            </a:lvl3pPr>
            <a:lvl4pPr marL="756285" indent="0">
              <a:buNone/>
              <a:defRPr sz="880" b="1"/>
            </a:lvl4pPr>
            <a:lvl5pPr marL="1008380" indent="0">
              <a:buNone/>
              <a:defRPr sz="880" b="1"/>
            </a:lvl5pPr>
            <a:lvl6pPr marL="1259840" indent="0">
              <a:buNone/>
              <a:defRPr sz="880" b="1"/>
            </a:lvl6pPr>
            <a:lvl7pPr marL="1511935" indent="0">
              <a:buNone/>
              <a:defRPr sz="880" b="1"/>
            </a:lvl7pPr>
            <a:lvl8pPr marL="1764665" indent="0">
              <a:buNone/>
              <a:defRPr sz="880" b="1"/>
            </a:lvl8pPr>
            <a:lvl9pPr marL="2016760" indent="0">
              <a:buNone/>
              <a:defRPr sz="88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347248" y="1922739"/>
            <a:ext cx="2132718" cy="262729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2552172" y="1282724"/>
            <a:ext cx="2143222" cy="605659"/>
          </a:xfrm>
        </p:spPr>
        <p:txBody>
          <a:bodyPr anchor="b"/>
          <a:lstStyle>
            <a:lvl1pPr marL="0" indent="0">
              <a:buNone/>
              <a:defRPr sz="1320" b="1"/>
            </a:lvl1pPr>
            <a:lvl2pPr marL="252095" indent="0">
              <a:buNone/>
              <a:defRPr sz="1100" b="1"/>
            </a:lvl2pPr>
            <a:lvl3pPr marL="503555" indent="0">
              <a:buNone/>
              <a:defRPr sz="995" b="1"/>
            </a:lvl3pPr>
            <a:lvl4pPr marL="756285" indent="0">
              <a:buNone/>
              <a:defRPr sz="880" b="1"/>
            </a:lvl4pPr>
            <a:lvl5pPr marL="1008380" indent="0">
              <a:buNone/>
              <a:defRPr sz="880" b="1"/>
            </a:lvl5pPr>
            <a:lvl6pPr marL="1259840" indent="0">
              <a:buNone/>
              <a:defRPr sz="880" b="1"/>
            </a:lvl6pPr>
            <a:lvl7pPr marL="1511935" indent="0">
              <a:buNone/>
              <a:defRPr sz="880" b="1"/>
            </a:lvl7pPr>
            <a:lvl8pPr marL="1764665" indent="0">
              <a:buNone/>
              <a:defRPr sz="880" b="1"/>
            </a:lvl8pPr>
            <a:lvl9pPr marL="2016760" indent="0">
              <a:buNone/>
              <a:defRPr sz="88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2552172" y="1922739"/>
            <a:ext cx="2143222" cy="262729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346591" y="2033452"/>
            <a:ext cx="4348146" cy="974424"/>
          </a:xfrm>
        </p:spPr>
        <p:txBody>
          <a:bodyPr>
            <a:normAutofit/>
          </a:bodyPr>
          <a:lstStyle>
            <a:lvl1pPr algn="ctr">
              <a:defRPr sz="2645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 hasCustomPrompt="true"/>
          </p:nvPr>
        </p:nvSpPr>
        <p:spPr>
          <a:xfrm>
            <a:off x="267427" y="93358"/>
            <a:ext cx="1722289" cy="1176310"/>
          </a:xfrm>
        </p:spPr>
        <p:txBody>
          <a:bodyPr anchor="ctr" anchorCtr="false">
            <a:normAutofit/>
          </a:bodyPr>
          <a:lstStyle>
            <a:lvl1pPr>
              <a:defRPr sz="132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2143557" y="563348"/>
            <a:ext cx="2405455" cy="3744937"/>
          </a:xfrm>
        </p:spPr>
        <p:txBody>
          <a:bodyPr/>
          <a:lstStyle>
            <a:lvl1pPr marL="0" indent="0">
              <a:buNone/>
              <a:defRPr sz="1770"/>
            </a:lvl1pPr>
            <a:lvl2pPr marL="252095" indent="0">
              <a:buNone/>
              <a:defRPr sz="1545"/>
            </a:lvl2pPr>
            <a:lvl3pPr marL="503555" indent="0">
              <a:buNone/>
              <a:defRPr sz="1320"/>
            </a:lvl3pPr>
            <a:lvl4pPr marL="756285" indent="0">
              <a:buNone/>
              <a:defRPr sz="1100"/>
            </a:lvl4pPr>
            <a:lvl5pPr marL="1008380" indent="0">
              <a:buNone/>
              <a:defRPr sz="1100"/>
            </a:lvl5pPr>
            <a:lvl6pPr marL="1259840" indent="0">
              <a:buNone/>
              <a:defRPr sz="1100"/>
            </a:lvl6pPr>
            <a:lvl7pPr marL="1511935" indent="0">
              <a:buNone/>
              <a:defRPr sz="1100"/>
            </a:lvl7pPr>
            <a:lvl8pPr marL="1764665" indent="0">
              <a:buNone/>
              <a:defRPr sz="1100"/>
            </a:lvl8pPr>
            <a:lvl9pPr marL="2016760" indent="0">
              <a:buNone/>
              <a:defRPr sz="11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269527" y="1512399"/>
            <a:ext cx="1722289" cy="280190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880"/>
            </a:lvl1pPr>
            <a:lvl2pPr marL="252095" indent="0">
              <a:buNone/>
              <a:defRPr sz="770"/>
            </a:lvl2pPr>
            <a:lvl3pPr marL="503555" indent="0">
              <a:buNone/>
              <a:defRPr sz="665"/>
            </a:lvl3pPr>
            <a:lvl4pPr marL="756285" indent="0">
              <a:buNone/>
              <a:defRPr sz="550"/>
            </a:lvl4pPr>
            <a:lvl5pPr marL="1008380" indent="0">
              <a:buNone/>
              <a:defRPr sz="550"/>
            </a:lvl5pPr>
            <a:lvl6pPr marL="1259840" indent="0">
              <a:buNone/>
              <a:defRPr sz="550"/>
            </a:lvl6pPr>
            <a:lvl7pPr marL="1511935" indent="0">
              <a:buNone/>
              <a:defRPr sz="550"/>
            </a:lvl7pPr>
            <a:lvl8pPr marL="1764665" indent="0">
              <a:buNone/>
              <a:defRPr sz="550"/>
            </a:lvl8pPr>
            <a:lvl9pPr marL="2016760" indent="0">
              <a:buNone/>
              <a:defRPr sz="5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4062373" y="268404"/>
            <a:ext cx="632364" cy="4272294"/>
          </a:xfrm>
        </p:spPr>
        <p:txBody>
          <a:bodyPr vert="eaVert">
            <a:normAutofit/>
          </a:bodyPr>
          <a:lstStyle>
            <a:lvl1pPr>
              <a:defRPr sz="198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346591" y="268404"/>
            <a:ext cx="3671817" cy="4272294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346591" y="405440"/>
            <a:ext cx="4348146" cy="408641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346591" y="268404"/>
            <a:ext cx="4348146" cy="97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346591" y="1342021"/>
            <a:ext cx="4348146" cy="3198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346591" y="4672565"/>
            <a:ext cx="1134299" cy="268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1669940" y="4672565"/>
            <a:ext cx="1701449" cy="268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3560438" y="4672565"/>
            <a:ext cx="1134299" cy="268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503555" rtl="0" eaLnBrk="1" latinLnBrk="0" hangingPunct="1">
        <a:lnSpc>
          <a:spcPct val="90000"/>
        </a:lnSpc>
        <a:spcBef>
          <a:spcPct val="0"/>
        </a:spcBef>
        <a:buNone/>
        <a:defRPr sz="22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365" indent="-126365" algn="l" defTabSz="503555" rtl="0" eaLnBrk="1" latinLnBrk="0" hangingPunct="1">
        <a:lnSpc>
          <a:spcPct val="90000"/>
        </a:lnSpc>
        <a:spcBef>
          <a:spcPct val="110000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78460" indent="-126365" algn="l" defTabSz="503555" rtl="0" eaLnBrk="1" latinLnBrk="0" hangingPunct="1">
        <a:lnSpc>
          <a:spcPct val="90000"/>
        </a:lnSpc>
        <a:spcBef>
          <a:spcPct val="55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629920" indent="-126365" algn="l" defTabSz="503555" rtl="0" eaLnBrk="1" latinLnBrk="0" hangingPunct="1">
        <a:lnSpc>
          <a:spcPct val="90000"/>
        </a:lnSpc>
        <a:spcBef>
          <a:spcPct val="55000"/>
        </a:spcBef>
        <a:buFont typeface="Arial" panose="020B0604020202020204" pitchFamily="34" charset="0"/>
        <a:buChar char="•"/>
        <a:defRPr sz="995" kern="1200">
          <a:solidFill>
            <a:schemeClr val="tx1"/>
          </a:solidFill>
          <a:latin typeface="+mn-lt"/>
          <a:ea typeface="+mn-ea"/>
          <a:cs typeface="+mn-cs"/>
        </a:defRPr>
      </a:lvl3pPr>
      <a:lvl4pPr marL="882650" indent="-126365" algn="l" defTabSz="503555" rtl="0" eaLnBrk="1" latinLnBrk="0" hangingPunct="1">
        <a:lnSpc>
          <a:spcPct val="90000"/>
        </a:lnSpc>
        <a:spcBef>
          <a:spcPct val="55000"/>
        </a:spcBef>
        <a:buFont typeface="Arial" panose="020B0604020202020204" pitchFamily="34" charset="0"/>
        <a:buChar char="•"/>
        <a:defRPr sz="995" kern="1200">
          <a:solidFill>
            <a:schemeClr val="tx1"/>
          </a:solidFill>
          <a:latin typeface="+mn-lt"/>
          <a:ea typeface="+mn-ea"/>
          <a:cs typeface="+mn-cs"/>
        </a:defRPr>
      </a:lvl4pPr>
      <a:lvl5pPr marL="1134745" indent="-126365" algn="l" defTabSz="503555" rtl="0" eaLnBrk="1" latinLnBrk="0" hangingPunct="1">
        <a:lnSpc>
          <a:spcPct val="90000"/>
        </a:lnSpc>
        <a:spcBef>
          <a:spcPct val="55000"/>
        </a:spcBef>
        <a:buFont typeface="Arial" panose="020B0604020202020204" pitchFamily="34" charset="0"/>
        <a:buChar char="•"/>
        <a:defRPr sz="995" kern="1200">
          <a:solidFill>
            <a:schemeClr val="tx1"/>
          </a:solidFill>
          <a:latin typeface="+mn-lt"/>
          <a:ea typeface="+mn-ea"/>
          <a:cs typeface="+mn-cs"/>
        </a:defRPr>
      </a:lvl5pPr>
      <a:lvl6pPr marL="1385570" indent="-126365" algn="l" defTabSz="503555" rtl="0" eaLnBrk="1" latinLnBrk="0" hangingPunct="1">
        <a:lnSpc>
          <a:spcPct val="90000"/>
        </a:lnSpc>
        <a:spcBef>
          <a:spcPct val="55000"/>
        </a:spcBef>
        <a:buFont typeface="Arial" panose="020B0604020202020204" pitchFamily="34" charset="0"/>
        <a:buChar char="•"/>
        <a:defRPr sz="995" kern="1200">
          <a:solidFill>
            <a:schemeClr val="tx1"/>
          </a:solidFill>
          <a:latin typeface="+mn-lt"/>
          <a:ea typeface="+mn-ea"/>
          <a:cs typeface="+mn-cs"/>
        </a:defRPr>
      </a:lvl6pPr>
      <a:lvl7pPr marL="1638935" indent="-126365" algn="l" defTabSz="503555" rtl="0" eaLnBrk="1" latinLnBrk="0" hangingPunct="1">
        <a:lnSpc>
          <a:spcPct val="90000"/>
        </a:lnSpc>
        <a:spcBef>
          <a:spcPct val="55000"/>
        </a:spcBef>
        <a:buFont typeface="Arial" panose="020B0604020202020204" pitchFamily="34" charset="0"/>
        <a:buChar char="•"/>
        <a:defRPr sz="995" kern="1200">
          <a:solidFill>
            <a:schemeClr val="tx1"/>
          </a:solidFill>
          <a:latin typeface="+mn-lt"/>
          <a:ea typeface="+mn-ea"/>
          <a:cs typeface="+mn-cs"/>
        </a:defRPr>
      </a:lvl7pPr>
      <a:lvl8pPr marL="1891030" indent="-126365" algn="l" defTabSz="503555" rtl="0" eaLnBrk="1" latinLnBrk="0" hangingPunct="1">
        <a:lnSpc>
          <a:spcPct val="90000"/>
        </a:lnSpc>
        <a:spcBef>
          <a:spcPct val="55000"/>
        </a:spcBef>
        <a:buFont typeface="Arial" panose="020B0604020202020204" pitchFamily="34" charset="0"/>
        <a:buChar char="•"/>
        <a:defRPr sz="995" kern="1200">
          <a:solidFill>
            <a:schemeClr val="tx1"/>
          </a:solidFill>
          <a:latin typeface="+mn-lt"/>
          <a:ea typeface="+mn-ea"/>
          <a:cs typeface="+mn-cs"/>
        </a:defRPr>
      </a:lvl8pPr>
      <a:lvl9pPr marL="2141855" indent="-126365" algn="l" defTabSz="503555" rtl="0" eaLnBrk="1" latinLnBrk="0" hangingPunct="1">
        <a:lnSpc>
          <a:spcPct val="90000"/>
        </a:lnSpc>
        <a:spcBef>
          <a:spcPct val="55000"/>
        </a:spcBef>
        <a:buFont typeface="Arial" panose="020B0604020202020204" pitchFamily="34" charset="0"/>
        <a:buChar char="•"/>
        <a:defRPr sz="9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1pPr>
      <a:lvl2pPr marL="252095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2pPr>
      <a:lvl3pPr marL="503555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3pPr>
      <a:lvl4pPr marL="756285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4pPr>
      <a:lvl5pPr marL="1008380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5pPr>
      <a:lvl6pPr marL="1259840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6pPr>
      <a:lvl7pPr marL="1511935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7pPr>
      <a:lvl8pPr marL="1764665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8pPr>
      <a:lvl9pPr marL="2016760" algn="l" defTabSz="503555" rtl="0" eaLnBrk="1" latinLnBrk="0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28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43.png"/><Relationship Id="rId17" Type="http://schemas.openxmlformats.org/officeDocument/2006/relationships/image" Target="../media/image42.png"/><Relationship Id="rId16" Type="http://schemas.openxmlformats.org/officeDocument/2006/relationships/image" Target="../media/image41.png"/><Relationship Id="rId15" Type="http://schemas.openxmlformats.org/officeDocument/2006/relationships/image" Target="../media/image40.png"/><Relationship Id="rId14" Type="http://schemas.openxmlformats.org/officeDocument/2006/relationships/image" Target="../media/image39.png"/><Relationship Id="rId13" Type="http://schemas.openxmlformats.org/officeDocument/2006/relationships/image" Target="../media/image38.png"/><Relationship Id="rId12" Type="http://schemas.openxmlformats.org/officeDocument/2006/relationships/image" Target="../media/image37.png"/><Relationship Id="rId11" Type="http://schemas.openxmlformats.org/officeDocument/2006/relationships/image" Target="../media/image21.png"/><Relationship Id="rId10" Type="http://schemas.openxmlformats.org/officeDocument/2006/relationships/image" Target="../media/image36.png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椭圆 1"/>
          <p:cNvSpPr/>
          <p:nvPr/>
        </p:nvSpPr>
        <p:spPr>
          <a:xfrm>
            <a:off x="1078865" y="1078865"/>
            <a:ext cx="2882265" cy="2882265"/>
          </a:xfrm>
          <a:prstGeom prst="ellipse">
            <a:avLst/>
          </a:prstGeom>
          <a:solidFill>
            <a:schemeClr val="accent1">
              <a:lumMod val="40000"/>
              <a:lumOff val="60000"/>
              <a:alpha val="7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H="true" flipV="true">
            <a:off x="1078865" y="1710055"/>
            <a:ext cx="0" cy="1440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true" flipV="true">
            <a:off x="1291590" y="1198880"/>
            <a:ext cx="0" cy="1260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true" flipV="true">
            <a:off x="1504315" y="1066165"/>
            <a:ext cx="0" cy="1008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true" flipV="true">
            <a:off x="1724660" y="939800"/>
            <a:ext cx="0" cy="756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true" flipV="true">
            <a:off x="1949450" y="913765"/>
            <a:ext cx="0" cy="50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true" flipV="true">
            <a:off x="2162175" y="957580"/>
            <a:ext cx="0" cy="252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true" flipV="true">
            <a:off x="2411095" y="945515"/>
            <a:ext cx="0" cy="72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true" flipV="true">
            <a:off x="1285875" y="2628900"/>
            <a:ext cx="0" cy="1260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true" flipV="true">
            <a:off x="1498600" y="2966720"/>
            <a:ext cx="0" cy="1008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true" flipV="true">
            <a:off x="1718945" y="3250565"/>
            <a:ext cx="0" cy="756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true" flipV="true">
            <a:off x="1943735" y="3526155"/>
            <a:ext cx="0" cy="504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true" flipV="true">
            <a:off x="2156460" y="3738880"/>
            <a:ext cx="0" cy="252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true" flipV="true">
            <a:off x="2405380" y="3835400"/>
            <a:ext cx="0" cy="72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 rot="10800000">
            <a:off x="2605405" y="1812925"/>
            <a:ext cx="1332230" cy="2236470"/>
            <a:chOff x="1899" y="1639"/>
            <a:chExt cx="2098" cy="3522"/>
          </a:xfrm>
        </p:grpSpPr>
        <p:cxnSp>
          <p:nvCxnSpPr>
            <p:cNvPr id="22" name="直接箭头连接符 21"/>
            <p:cNvCxnSpPr/>
            <p:nvPr/>
          </p:nvCxnSpPr>
          <p:spPr>
            <a:xfrm flipH="true" flipV="true">
              <a:off x="1899" y="2893"/>
              <a:ext cx="0" cy="22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H="true" flipV="true">
              <a:off x="2234" y="2088"/>
              <a:ext cx="0" cy="19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H="true" flipV="true">
              <a:off x="2569" y="1879"/>
              <a:ext cx="0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H="true" flipV="true">
              <a:off x="2916" y="1680"/>
              <a:ext cx="0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H="true" flipV="true">
              <a:off x="3270" y="1639"/>
              <a:ext cx="0" cy="7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H="true" flipV="true">
              <a:off x="3605" y="1708"/>
              <a:ext cx="0" cy="39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true" flipV="true">
              <a:off x="3997" y="1689"/>
              <a:ext cx="0" cy="1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>
          <a:xfrm>
            <a:off x="2590165" y="915670"/>
            <a:ext cx="1119505" cy="1401445"/>
            <a:chOff x="2225" y="4340"/>
            <a:chExt cx="1763" cy="2207"/>
          </a:xfrm>
          <a:scene3d>
            <a:camera prst="orthographicFront">
              <a:rot lat="10800000" lon="10800000" rev="0"/>
            </a:camera>
            <a:lightRig rig="threePt" dir="t"/>
          </a:scene3d>
        </p:grpSpPr>
        <p:cxnSp>
          <p:nvCxnSpPr>
            <p:cNvPr id="39" name="直接箭头连接符 38"/>
            <p:cNvCxnSpPr/>
            <p:nvPr/>
          </p:nvCxnSpPr>
          <p:spPr>
            <a:xfrm flipH="true" flipV="true">
              <a:off x="2225" y="4340"/>
              <a:ext cx="0" cy="19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/>
            <p:nvPr/>
          </p:nvCxnSpPr>
          <p:spPr>
            <a:xfrm flipH="true" flipV="true">
              <a:off x="2560" y="4872"/>
              <a:ext cx="0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H="true" flipV="true">
              <a:off x="2907" y="5319"/>
              <a:ext cx="0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flipH="true" flipV="true">
              <a:off x="3261" y="5753"/>
              <a:ext cx="0" cy="7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H="true" flipV="true">
              <a:off x="3596" y="6088"/>
              <a:ext cx="0" cy="39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H="true" flipV="true">
              <a:off x="3988" y="6240"/>
              <a:ext cx="0" cy="11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云形 6"/>
          <p:cNvSpPr/>
          <p:nvPr/>
        </p:nvSpPr>
        <p:spPr>
          <a:xfrm>
            <a:off x="967740" y="1569720"/>
            <a:ext cx="2869565" cy="217043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true"/>
              <p:nvPr/>
            </p:nvSpPr>
            <p:spPr>
              <a:xfrm>
                <a:off x="1366520" y="2994025"/>
                <a:ext cx="843280" cy="5219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𝑆</m:t>
                      </m:r>
                    </m:oMath>
                  </m:oMathPara>
                </a14:m>
                <a:endParaRPr lang="en-US" altLang="zh-CN" sz="28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8" name="文本框 7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366520" y="2994025"/>
                <a:ext cx="843280" cy="521970"/>
              </a:xfrm>
              <a:prstGeom prst="rect">
                <a:avLst/>
              </a:prstGeom>
              <a:blipFill rotWithShape="true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/>
          <p:cNvCxnSpPr/>
          <p:nvPr/>
        </p:nvCxnSpPr>
        <p:spPr>
          <a:xfrm flipV="true">
            <a:off x="2366645" y="1587500"/>
            <a:ext cx="808990" cy="1029970"/>
          </a:xfrm>
          <a:prstGeom prst="line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true">
            <a:off x="2366645" y="1795780"/>
            <a:ext cx="1090930" cy="821690"/>
          </a:xfrm>
          <a:prstGeom prst="line">
            <a:avLst/>
          </a:prstGeom>
          <a:ln w="254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true" flipV="true">
            <a:off x="3152775" y="1483360"/>
            <a:ext cx="330835" cy="294005"/>
          </a:xfrm>
          <a:prstGeom prst="straightConnector1">
            <a:avLst/>
          </a:prstGeom>
          <a:ln w="571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true"/>
              <p:nvPr/>
            </p:nvSpPr>
            <p:spPr>
              <a:xfrm>
                <a:off x="2911729" y="2073211"/>
                <a:ext cx="449580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𝒙</m:t>
                      </m:r>
                    </m:oMath>
                  </m:oMathPara>
                </a14:m>
                <a:endParaRPr lang="en-US" altLang="zh-CN" sz="2400" b="1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3" name="文本框 12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911729" y="2073211"/>
                <a:ext cx="449580" cy="460375"/>
              </a:xfrm>
              <a:prstGeom prst="rect">
                <a:avLst/>
              </a:prstGeom>
              <a:blipFill rotWithShape="true">
                <a:blip r:embed="rId2"/>
                <a:stretch>
                  <a:fillRect l="-57" t="-124" r="57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true"/>
              <p:nvPr/>
            </p:nvSpPr>
            <p:spPr>
              <a:xfrm>
                <a:off x="3361309" y="1244536"/>
                <a:ext cx="1034415" cy="46037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𝑱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2400" b="1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𝒙</m:t>
                      </m:r>
                      <m:r>
                        <a:rPr lang="en-US" altLang="zh-CN" sz="2400" b="1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’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en-US" altLang="zh-CN" sz="2400" i="1">
                  <a:latin typeface="DejaVu Math TeX Gyre" panose="02000503000000000000" charset="0"/>
                  <a:ea typeface="MS Mincho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4" name="文本框 13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3361309" y="1244536"/>
                <a:ext cx="1034415" cy="460375"/>
              </a:xfrm>
              <a:prstGeom prst="rect">
                <a:avLst/>
              </a:prstGeom>
              <a:blipFill rotWithShape="true">
                <a:blip r:embed="rId3"/>
                <a:stretch>
                  <a:fillRect l="-25" t="-124" r="-528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 txBox="true"/>
          <p:nvPr/>
        </p:nvSpPr>
        <p:spPr>
          <a:xfrm>
            <a:off x="3604260" y="2054225"/>
            <a:ext cx="38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/>
              <a:t>y</a:t>
            </a:r>
            <a:endParaRPr lang="en-US" altLang="zh-CN" sz="2800" b="1"/>
          </a:p>
        </p:txBody>
      </p:sp>
      <p:grpSp>
        <p:nvGrpSpPr>
          <p:cNvPr id="24" name="组合 23"/>
          <p:cNvGrpSpPr/>
          <p:nvPr/>
        </p:nvGrpSpPr>
        <p:grpSpPr>
          <a:xfrm>
            <a:off x="296144" y="450449"/>
            <a:ext cx="4679950" cy="4140200"/>
            <a:chOff x="404" y="1460"/>
            <a:chExt cx="7370" cy="6520"/>
          </a:xfrm>
        </p:grpSpPr>
        <p:sp>
          <p:nvSpPr>
            <p:cNvPr id="23" name="任意多边形 22"/>
            <p:cNvSpPr/>
            <p:nvPr/>
          </p:nvSpPr>
          <p:spPr>
            <a:xfrm>
              <a:off x="404" y="2194"/>
              <a:ext cx="3569" cy="5762"/>
            </a:xfrm>
            <a:custGeom>
              <a:avLst/>
              <a:gdLst>
                <a:gd name="connsiteX0" fmla="*/ 0 w 3569"/>
                <a:gd name="connsiteY0" fmla="*/ 1889 h 5762"/>
                <a:gd name="connsiteX1" fmla="*/ 3556 w 3569"/>
                <a:gd name="connsiteY1" fmla="*/ 0 h 5762"/>
                <a:gd name="connsiteX2" fmla="*/ 3569 w 3569"/>
                <a:gd name="connsiteY2" fmla="*/ 3873 h 5762"/>
                <a:gd name="connsiteX3" fmla="*/ 0 w 3569"/>
                <a:gd name="connsiteY3" fmla="*/ 5762 h 5762"/>
                <a:gd name="connsiteX4" fmla="*/ 0 w 3569"/>
                <a:gd name="connsiteY4" fmla="*/ 1889 h 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" h="5762">
                  <a:moveTo>
                    <a:pt x="0" y="1889"/>
                  </a:moveTo>
                  <a:lnTo>
                    <a:pt x="3556" y="0"/>
                  </a:lnTo>
                  <a:lnTo>
                    <a:pt x="3569" y="3873"/>
                  </a:lnTo>
                  <a:lnTo>
                    <a:pt x="0" y="5762"/>
                  </a:lnTo>
                  <a:lnTo>
                    <a:pt x="0" y="1889"/>
                  </a:lnTo>
                  <a:close/>
                </a:path>
              </a:pathLst>
            </a:custGeom>
            <a:solidFill>
              <a:srgbClr val="7030A0">
                <a:alpha val="60000"/>
              </a:srgb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true">
              <a:off x="412" y="1460"/>
              <a:ext cx="0" cy="652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>
              <a:off x="404" y="7952"/>
              <a:ext cx="737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flipV="true">
              <a:off x="911" y="6066"/>
              <a:ext cx="3577" cy="189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任意多边形 13"/>
            <p:cNvSpPr/>
            <p:nvPr/>
          </p:nvSpPr>
          <p:spPr>
            <a:xfrm>
              <a:off x="932" y="2190"/>
              <a:ext cx="3569" cy="5762"/>
            </a:xfrm>
            <a:custGeom>
              <a:avLst/>
              <a:gdLst>
                <a:gd name="connsiteX0" fmla="*/ 0 w 3569"/>
                <a:gd name="connsiteY0" fmla="*/ 1889 h 5762"/>
                <a:gd name="connsiteX1" fmla="*/ 3556 w 3569"/>
                <a:gd name="connsiteY1" fmla="*/ 0 h 5762"/>
                <a:gd name="connsiteX2" fmla="*/ 3569 w 3569"/>
                <a:gd name="connsiteY2" fmla="*/ 3873 h 5762"/>
                <a:gd name="connsiteX3" fmla="*/ 0 w 3569"/>
                <a:gd name="connsiteY3" fmla="*/ 5762 h 5762"/>
                <a:gd name="connsiteX4" fmla="*/ 0 w 3569"/>
                <a:gd name="connsiteY4" fmla="*/ 1889 h 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" h="5762">
                  <a:moveTo>
                    <a:pt x="0" y="1889"/>
                  </a:moveTo>
                  <a:lnTo>
                    <a:pt x="3556" y="0"/>
                  </a:lnTo>
                  <a:lnTo>
                    <a:pt x="3569" y="3873"/>
                  </a:lnTo>
                  <a:lnTo>
                    <a:pt x="0" y="5762"/>
                  </a:lnTo>
                  <a:lnTo>
                    <a:pt x="0" y="1889"/>
                  </a:lnTo>
                  <a:close/>
                </a:path>
              </a:pathLst>
            </a:custGeom>
            <a:solidFill>
              <a:schemeClr val="accent5">
                <a:alpha val="6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/>
          </p:nvSpPr>
          <p:spPr>
            <a:xfrm>
              <a:off x="1496" y="2194"/>
              <a:ext cx="3569" cy="5762"/>
            </a:xfrm>
            <a:custGeom>
              <a:avLst/>
              <a:gdLst>
                <a:gd name="connsiteX0" fmla="*/ 0 w 3569"/>
                <a:gd name="connsiteY0" fmla="*/ 1889 h 5762"/>
                <a:gd name="connsiteX1" fmla="*/ 3556 w 3569"/>
                <a:gd name="connsiteY1" fmla="*/ 0 h 5762"/>
                <a:gd name="connsiteX2" fmla="*/ 3569 w 3569"/>
                <a:gd name="connsiteY2" fmla="*/ 3873 h 5762"/>
                <a:gd name="connsiteX3" fmla="*/ 0 w 3569"/>
                <a:gd name="connsiteY3" fmla="*/ 5762 h 5762"/>
                <a:gd name="connsiteX4" fmla="*/ 0 w 3569"/>
                <a:gd name="connsiteY4" fmla="*/ 1889 h 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" h="5762">
                  <a:moveTo>
                    <a:pt x="0" y="1889"/>
                  </a:moveTo>
                  <a:lnTo>
                    <a:pt x="3556" y="0"/>
                  </a:lnTo>
                  <a:lnTo>
                    <a:pt x="3569" y="3873"/>
                  </a:lnTo>
                  <a:lnTo>
                    <a:pt x="0" y="5762"/>
                  </a:lnTo>
                  <a:lnTo>
                    <a:pt x="0" y="1889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2112" y="2200"/>
              <a:ext cx="3569" cy="5762"/>
            </a:xfrm>
            <a:custGeom>
              <a:avLst/>
              <a:gdLst>
                <a:gd name="connsiteX0" fmla="*/ 0 w 3569"/>
                <a:gd name="connsiteY0" fmla="*/ 1889 h 5762"/>
                <a:gd name="connsiteX1" fmla="*/ 3556 w 3569"/>
                <a:gd name="connsiteY1" fmla="*/ 0 h 5762"/>
                <a:gd name="connsiteX2" fmla="*/ 3569 w 3569"/>
                <a:gd name="connsiteY2" fmla="*/ 3873 h 5762"/>
                <a:gd name="connsiteX3" fmla="*/ 0 w 3569"/>
                <a:gd name="connsiteY3" fmla="*/ 5762 h 5762"/>
                <a:gd name="connsiteX4" fmla="*/ 0 w 3569"/>
                <a:gd name="connsiteY4" fmla="*/ 1889 h 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" h="5762">
                  <a:moveTo>
                    <a:pt x="0" y="1889"/>
                  </a:moveTo>
                  <a:lnTo>
                    <a:pt x="3556" y="0"/>
                  </a:lnTo>
                  <a:lnTo>
                    <a:pt x="3569" y="3873"/>
                  </a:lnTo>
                  <a:lnTo>
                    <a:pt x="0" y="5762"/>
                  </a:lnTo>
                  <a:lnTo>
                    <a:pt x="0" y="1889"/>
                  </a:lnTo>
                  <a:close/>
                </a:path>
              </a:pathLst>
            </a:custGeom>
            <a:solidFill>
              <a:schemeClr val="accent6">
                <a:alpha val="6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2728" y="2192"/>
              <a:ext cx="3569" cy="5762"/>
            </a:xfrm>
            <a:custGeom>
              <a:avLst/>
              <a:gdLst>
                <a:gd name="connsiteX0" fmla="*/ 0 w 3569"/>
                <a:gd name="connsiteY0" fmla="*/ 1889 h 5762"/>
                <a:gd name="connsiteX1" fmla="*/ 3556 w 3569"/>
                <a:gd name="connsiteY1" fmla="*/ 0 h 5762"/>
                <a:gd name="connsiteX2" fmla="*/ 3569 w 3569"/>
                <a:gd name="connsiteY2" fmla="*/ 3873 h 5762"/>
                <a:gd name="connsiteX3" fmla="*/ 0 w 3569"/>
                <a:gd name="connsiteY3" fmla="*/ 5762 h 5762"/>
                <a:gd name="connsiteX4" fmla="*/ 0 w 3569"/>
                <a:gd name="connsiteY4" fmla="*/ 1889 h 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" h="5762">
                  <a:moveTo>
                    <a:pt x="0" y="1889"/>
                  </a:moveTo>
                  <a:lnTo>
                    <a:pt x="3556" y="0"/>
                  </a:lnTo>
                  <a:lnTo>
                    <a:pt x="3569" y="3873"/>
                  </a:lnTo>
                  <a:lnTo>
                    <a:pt x="0" y="5762"/>
                  </a:lnTo>
                  <a:lnTo>
                    <a:pt x="0" y="1889"/>
                  </a:lnTo>
                  <a:close/>
                </a:path>
              </a:pathLst>
            </a:custGeom>
            <a:solidFill>
              <a:schemeClr val="accent4">
                <a:alpha val="6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3370" y="2186"/>
              <a:ext cx="3569" cy="5762"/>
            </a:xfrm>
            <a:custGeom>
              <a:avLst/>
              <a:gdLst>
                <a:gd name="connsiteX0" fmla="*/ 0 w 3569"/>
                <a:gd name="connsiteY0" fmla="*/ 1889 h 5762"/>
                <a:gd name="connsiteX1" fmla="*/ 3556 w 3569"/>
                <a:gd name="connsiteY1" fmla="*/ 0 h 5762"/>
                <a:gd name="connsiteX2" fmla="*/ 3569 w 3569"/>
                <a:gd name="connsiteY2" fmla="*/ 3873 h 5762"/>
                <a:gd name="connsiteX3" fmla="*/ 0 w 3569"/>
                <a:gd name="connsiteY3" fmla="*/ 5762 h 5762"/>
                <a:gd name="connsiteX4" fmla="*/ 0 w 3569"/>
                <a:gd name="connsiteY4" fmla="*/ 1889 h 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" h="5762">
                  <a:moveTo>
                    <a:pt x="0" y="1889"/>
                  </a:moveTo>
                  <a:lnTo>
                    <a:pt x="3556" y="0"/>
                  </a:lnTo>
                  <a:lnTo>
                    <a:pt x="3569" y="3873"/>
                  </a:lnTo>
                  <a:lnTo>
                    <a:pt x="0" y="5762"/>
                  </a:lnTo>
                  <a:lnTo>
                    <a:pt x="0" y="1889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4038" y="2191"/>
              <a:ext cx="3569" cy="5762"/>
            </a:xfrm>
            <a:custGeom>
              <a:avLst/>
              <a:gdLst>
                <a:gd name="connsiteX0" fmla="*/ 0 w 3569"/>
                <a:gd name="connsiteY0" fmla="*/ 1889 h 5762"/>
                <a:gd name="connsiteX1" fmla="*/ 3556 w 3569"/>
                <a:gd name="connsiteY1" fmla="*/ 0 h 5762"/>
                <a:gd name="connsiteX2" fmla="*/ 3569 w 3569"/>
                <a:gd name="connsiteY2" fmla="*/ 3873 h 5762"/>
                <a:gd name="connsiteX3" fmla="*/ 0 w 3569"/>
                <a:gd name="connsiteY3" fmla="*/ 5762 h 5762"/>
                <a:gd name="connsiteX4" fmla="*/ 0 w 3569"/>
                <a:gd name="connsiteY4" fmla="*/ 1889 h 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9" h="5762">
                  <a:moveTo>
                    <a:pt x="0" y="1889"/>
                  </a:moveTo>
                  <a:lnTo>
                    <a:pt x="3556" y="0"/>
                  </a:lnTo>
                  <a:lnTo>
                    <a:pt x="3569" y="3873"/>
                  </a:lnTo>
                  <a:lnTo>
                    <a:pt x="0" y="5762"/>
                  </a:lnTo>
                  <a:lnTo>
                    <a:pt x="0" y="1889"/>
                  </a:lnTo>
                  <a:close/>
                </a:path>
              </a:pathLst>
            </a:custGeom>
            <a:solidFill>
              <a:srgbClr val="FF3300">
                <a:alpha val="60000"/>
              </a:srgbClr>
            </a:solidFill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true"/>
          <p:nvPr/>
        </p:nvSpPr>
        <p:spPr>
          <a:xfrm>
            <a:off x="4489450" y="4490085"/>
            <a:ext cx="3803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/>
              <a:t>x</a:t>
            </a:r>
            <a:endParaRPr lang="en-US" altLang="zh-CN" sz="2800" b="1"/>
          </a:p>
        </p:txBody>
      </p:sp>
      <p:sp>
        <p:nvSpPr>
          <p:cNvPr id="22" name="文本框 21"/>
          <p:cNvSpPr txBox="true"/>
          <p:nvPr/>
        </p:nvSpPr>
        <p:spPr>
          <a:xfrm>
            <a:off x="-15875" y="167640"/>
            <a:ext cx="360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/>
              <a:t>z</a:t>
            </a:r>
            <a:endParaRPr lang="en-US" altLang="zh-CN" sz="2800" b="1"/>
          </a:p>
        </p:txBody>
      </p:sp>
      <p:sp>
        <p:nvSpPr>
          <p:cNvPr id="2" name="文本框 1"/>
          <p:cNvSpPr txBox="true"/>
          <p:nvPr/>
        </p:nvSpPr>
        <p:spPr>
          <a:xfrm>
            <a:off x="4037965" y="81915"/>
            <a:ext cx="8724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平面波</a:t>
            </a:r>
            <a:endParaRPr lang="zh-CN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箭头连接符 1"/>
          <p:cNvCxnSpPr/>
          <p:nvPr/>
        </p:nvCxnSpPr>
        <p:spPr>
          <a:xfrm flipV="true">
            <a:off x="364545" y="162120"/>
            <a:ext cx="0" cy="43200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V="true">
            <a:off x="356870" y="4465955"/>
            <a:ext cx="4320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cxnSpLocks noChangeAspect="true"/>
          </p:cNvCxnSpPr>
          <p:nvPr/>
        </p:nvCxnSpPr>
        <p:spPr>
          <a:xfrm flipV="true">
            <a:off x="360045" y="2631440"/>
            <a:ext cx="3477260" cy="18230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>
            <a:cxnSpLocks noChangeAspect="true"/>
          </p:cNvCxnSpPr>
          <p:nvPr/>
        </p:nvCxnSpPr>
        <p:spPr>
          <a:xfrm>
            <a:off x="1260475" y="499110"/>
            <a:ext cx="1892935" cy="3955415"/>
          </a:xfrm>
          <a:prstGeom prst="line">
            <a:avLst/>
          </a:prstGeom>
          <a:ln w="28575" cmpd="sng">
            <a:solidFill>
              <a:schemeClr val="accent4">
                <a:alpha val="64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cxnSpLocks noChangeAspect="true"/>
          </p:cNvCxnSpPr>
          <p:nvPr/>
        </p:nvCxnSpPr>
        <p:spPr>
          <a:xfrm>
            <a:off x="368300" y="1185545"/>
            <a:ext cx="1564640" cy="3268980"/>
          </a:xfrm>
          <a:prstGeom prst="line">
            <a:avLst/>
          </a:prstGeom>
          <a:ln w="28575" cmpd="sng">
            <a:solidFill>
              <a:schemeClr val="accent4">
                <a:alpha val="64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 noChangeAspect="true"/>
          </p:cNvCxnSpPr>
          <p:nvPr/>
        </p:nvCxnSpPr>
        <p:spPr>
          <a:xfrm>
            <a:off x="354330" y="2311400"/>
            <a:ext cx="1031240" cy="2154555"/>
          </a:xfrm>
          <a:prstGeom prst="line">
            <a:avLst/>
          </a:prstGeom>
          <a:ln w="28575" cmpd="sng">
            <a:solidFill>
              <a:schemeClr val="accent4">
                <a:alpha val="64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cxnSpLocks noChangeAspect="true"/>
          </p:cNvCxnSpPr>
          <p:nvPr/>
        </p:nvCxnSpPr>
        <p:spPr>
          <a:xfrm>
            <a:off x="381635" y="3457575"/>
            <a:ext cx="477520" cy="996950"/>
          </a:xfrm>
          <a:prstGeom prst="line">
            <a:avLst/>
          </a:prstGeom>
          <a:ln w="28575" cmpd="sng">
            <a:solidFill>
              <a:schemeClr val="accent4">
                <a:alpha val="64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 noChangeAspect="true"/>
          </p:cNvCxnSpPr>
          <p:nvPr/>
        </p:nvCxnSpPr>
        <p:spPr>
          <a:xfrm>
            <a:off x="646430" y="512445"/>
            <a:ext cx="1892935" cy="3955415"/>
          </a:xfrm>
          <a:prstGeom prst="line">
            <a:avLst/>
          </a:prstGeom>
          <a:ln w="28575" cmpd="sng">
            <a:solidFill>
              <a:schemeClr val="accent4">
                <a:alpha val="64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 noChangeAspect="true"/>
          </p:cNvCxnSpPr>
          <p:nvPr/>
        </p:nvCxnSpPr>
        <p:spPr>
          <a:xfrm>
            <a:off x="1924685" y="511810"/>
            <a:ext cx="1892935" cy="3955415"/>
          </a:xfrm>
          <a:prstGeom prst="line">
            <a:avLst/>
          </a:prstGeom>
          <a:ln w="28575" cmpd="sng">
            <a:solidFill>
              <a:schemeClr val="accent4">
                <a:alpha val="64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true">
            <a:off x="1539875" y="808355"/>
            <a:ext cx="526415" cy="253365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true"/>
              <p:nvPr/>
            </p:nvSpPr>
            <p:spPr>
              <a:xfrm rot="20040000">
                <a:off x="1406779" y="455231"/>
                <a:ext cx="718820" cy="4038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𝜆</m:t>
                      </m:r>
                      <m:r>
                        <a:rPr lang="en-US" altLang="zh-CN" sz="10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0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10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  <m:r>
                            <a:rPr lang="en-US" altLang="zh-CN" sz="10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0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|</m:t>
                          </m:r>
                          <m:r>
                            <a:rPr lang="en-US" altLang="zh-CN" sz="10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𝒌</m:t>
                          </m:r>
                          <m:r>
                            <a:rPr lang="en-US" altLang="zh-CN" sz="10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altLang="zh-CN" sz="10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7" name="文本框 16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 rot="20040000">
                <a:off x="1406779" y="455231"/>
                <a:ext cx="718820" cy="403860"/>
              </a:xfrm>
              <a:prstGeom prst="rect">
                <a:avLst/>
              </a:prstGeom>
              <a:blipFill rotWithShape="true">
                <a:blip r:embed="rId1"/>
                <a:stretch>
                  <a:fillRect l="-7279" t="-34104" r="-7208" b="-33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接箭头连接符 18"/>
          <p:cNvCxnSpPr/>
          <p:nvPr/>
        </p:nvCxnSpPr>
        <p:spPr>
          <a:xfrm flipV="true">
            <a:off x="360045" y="2465705"/>
            <a:ext cx="1842770" cy="19881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弧形 20"/>
          <p:cNvSpPr/>
          <p:nvPr/>
        </p:nvSpPr>
        <p:spPr>
          <a:xfrm>
            <a:off x="664210" y="4101465"/>
            <a:ext cx="127000" cy="213995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true"/>
              <p:nvPr/>
            </p:nvSpPr>
            <p:spPr>
              <a:xfrm>
                <a:off x="646684" y="3865816"/>
                <a:ext cx="54927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𝜃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3" name="文本框 22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646684" y="3865816"/>
                <a:ext cx="549275" cy="368300"/>
              </a:xfrm>
              <a:prstGeom prst="rect">
                <a:avLst/>
              </a:prstGeom>
              <a:blipFill rotWithShape="true">
                <a:blip r:embed="rId2"/>
                <a:stretch>
                  <a:fillRect l="-46" t="-155" r="46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/>
              <p:cNvSpPr txBox="true"/>
              <p:nvPr/>
            </p:nvSpPr>
            <p:spPr>
              <a:xfrm rot="19980000">
                <a:off x="3248914" y="2748216"/>
                <a:ext cx="1177925" cy="37782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传播方向</m:t>
                      </m:r>
                    </m:oMath>
                  </m:oMathPara>
                </a14:m>
                <a:endParaRPr lang="en-US" altLang="zh-CN" b="1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4" name="文本框 23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 rot="19980000">
                <a:off x="3248914" y="2748216"/>
                <a:ext cx="1177925" cy="377825"/>
              </a:xfrm>
              <a:prstGeom prst="rect">
                <a:avLst/>
              </a:prstGeom>
              <a:blipFill rotWithShape="true">
                <a:blip r:embed="rId3"/>
                <a:stretch>
                  <a:fillRect l="-1854" t="-65361" r="-1811" b="-65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true"/>
              <p:nvPr/>
            </p:nvSpPr>
            <p:spPr>
              <a:xfrm>
                <a:off x="1918335" y="2145030"/>
                <a:ext cx="335280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𝒙</m:t>
                      </m:r>
                    </m:oMath>
                  </m:oMathPara>
                </a14:m>
                <a:endParaRPr lang="en-US" altLang="zh-CN" sz="2000" b="1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5" name="文本框 24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918335" y="2145030"/>
                <a:ext cx="335280" cy="398780"/>
              </a:xfrm>
              <a:prstGeom prst="rect">
                <a:avLst/>
              </a:prstGeom>
              <a:blipFill rotWithShape="true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true"/>
              <p:nvPr/>
            </p:nvSpPr>
            <p:spPr>
              <a:xfrm>
                <a:off x="2407285" y="3243580"/>
                <a:ext cx="335280" cy="3987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𝒙</m:t>
                      </m:r>
                      <m:r>
                        <a:rPr lang="en-US" altLang="zh-CN" sz="2000" b="1" i="1">
                          <a:latin typeface="DejaVu Math TeX Gyre" panose="02000503000000000000" charset="0"/>
                          <a:ea typeface="MS Mincho" charset="0"/>
                          <a:cs typeface="DejaVu Math TeX Gyre" panose="02000503000000000000" charset="0"/>
                        </a:rPr>
                        <m:t>’</m:t>
                      </m:r>
                    </m:oMath>
                  </m:oMathPara>
                </a14:m>
                <a:endParaRPr lang="en-US" altLang="zh-CN" sz="2000" b="1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6" name="文本框 25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407285" y="3243580"/>
                <a:ext cx="335280" cy="398780"/>
              </a:xfrm>
              <a:prstGeom prst="rect">
                <a:avLst/>
              </a:prstGeom>
              <a:blipFill rotWithShape="true">
                <a:blip r:embed="rId5"/>
                <a:stretch>
                  <a:fillRect r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连接符 27"/>
          <p:cNvCxnSpPr/>
          <p:nvPr/>
        </p:nvCxnSpPr>
        <p:spPr>
          <a:xfrm>
            <a:off x="2177415" y="2487295"/>
            <a:ext cx="356870" cy="74168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3168015" y="4531995"/>
            <a:ext cx="65278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/>
              <p:cNvSpPr txBox="true"/>
              <p:nvPr/>
            </p:nvSpPr>
            <p:spPr>
              <a:xfrm>
                <a:off x="3041904" y="4556061"/>
                <a:ext cx="873125" cy="4749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12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r>
                            <a:rPr lang="en-US" altLang="zh-CN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  <m:r>
                            <a:rPr lang="en-US" altLang="zh-CN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zh-CN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12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altLang="zh-CN" sz="12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1" name="文本框 30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3041904" y="4556061"/>
                <a:ext cx="873125" cy="474980"/>
              </a:xfrm>
              <a:prstGeom prst="rect">
                <a:avLst/>
              </a:prstGeom>
              <a:blipFill rotWithShape="true">
                <a:blip r:embed="rId6"/>
                <a:stretch>
                  <a:fillRect l="-29" t="-120" r="29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true"/>
              <p:nvPr/>
            </p:nvSpPr>
            <p:spPr>
              <a:xfrm rot="19980000">
                <a:off x="3349244" y="2292286"/>
                <a:ext cx="75438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𝒌</m:t>
                      </m:r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2" name="文本框 31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 rot="19980000">
                <a:off x="3349244" y="2292286"/>
                <a:ext cx="754380" cy="368300"/>
              </a:xfrm>
              <a:prstGeom prst="rect">
                <a:avLst/>
              </a:prstGeom>
              <a:blipFill rotWithShape="true">
                <a:blip r:embed="rId7"/>
                <a:stretch>
                  <a:fillRect l="-5673" t="-41190" r="-5606" b="-40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true"/>
              <p:nvPr/>
            </p:nvSpPr>
            <p:spPr>
              <a:xfrm>
                <a:off x="4353814" y="4453826"/>
                <a:ext cx="518795" cy="3124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  <m:r>
                        <a:rPr lang="en-US" altLang="zh-CN" sz="1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轴</m:t>
                      </m:r>
                    </m:oMath>
                  </m:oMathPara>
                </a14:m>
                <a:endParaRPr lang="en-US" altLang="zh-CN" sz="14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33" name="文本框 32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4353814" y="4453826"/>
                <a:ext cx="518795" cy="312420"/>
              </a:xfrm>
              <a:prstGeom prst="rect">
                <a:avLst/>
              </a:prstGeom>
              <a:blipFill rotWithShape="true">
                <a:blip r:embed="rId8"/>
                <a:stretch>
                  <a:fillRect l="-49" t="-183" r="49" b="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箭头连接符 1"/>
          <p:cNvCxnSpPr/>
          <p:nvPr/>
        </p:nvCxnSpPr>
        <p:spPr>
          <a:xfrm>
            <a:off x="1018540" y="3289935"/>
            <a:ext cx="3168000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V="true">
            <a:off x="1008380" y="1777365"/>
            <a:ext cx="0" cy="151200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cxnSpLocks noChangeAspect="true"/>
          </p:cNvCxnSpPr>
          <p:nvPr/>
        </p:nvCxnSpPr>
        <p:spPr>
          <a:xfrm>
            <a:off x="2323465" y="3289935"/>
            <a:ext cx="946150" cy="95504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cxnSpLocks noChangeAspect="true"/>
          </p:cNvCxnSpPr>
          <p:nvPr/>
        </p:nvCxnSpPr>
        <p:spPr>
          <a:xfrm flipV="true">
            <a:off x="1108710" y="3299460"/>
            <a:ext cx="1214755" cy="120840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true">
            <a:off x="2329180" y="2616835"/>
            <a:ext cx="9525" cy="141351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true">
            <a:off x="2310130" y="2773045"/>
            <a:ext cx="974725" cy="52641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流程图: 汇总连接 3"/>
          <p:cNvSpPr/>
          <p:nvPr/>
        </p:nvSpPr>
        <p:spPr>
          <a:xfrm>
            <a:off x="1298575" y="4079240"/>
            <a:ext cx="243840" cy="243840"/>
          </a:xfrm>
          <a:prstGeom prst="flowChartSummingJunction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true"/>
              <p:nvPr/>
            </p:nvSpPr>
            <p:spPr>
              <a:xfrm>
                <a:off x="787019" y="3987101"/>
                <a:ext cx="556895" cy="368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6" name="文本框 5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787019" y="3987101"/>
                <a:ext cx="556895" cy="368935"/>
              </a:xfrm>
              <a:prstGeom prst="rect">
                <a:avLst/>
              </a:prstGeom>
              <a:blipFill rotWithShape="true">
                <a:blip r:embed="rId1"/>
                <a:stretch>
                  <a:fillRect l="-46" t="-155" r="46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/>
          <p:cNvCxnSpPr>
            <a:cxnSpLocks noChangeAspect="true"/>
          </p:cNvCxnSpPr>
          <p:nvPr/>
        </p:nvCxnSpPr>
        <p:spPr>
          <a:xfrm flipH="true" flipV="true">
            <a:off x="1578610" y="3161665"/>
            <a:ext cx="424180" cy="488950"/>
          </a:xfrm>
          <a:prstGeom prst="straightConnector1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true"/>
              <p:nvPr/>
            </p:nvSpPr>
            <p:spPr>
              <a:xfrm>
                <a:off x="1644904" y="4484306"/>
                <a:ext cx="574675" cy="368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rgbClr val="FF00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0" name="文本框 9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644904" y="4484306"/>
                <a:ext cx="574675" cy="368935"/>
              </a:xfrm>
              <a:prstGeom prst="rect">
                <a:avLst/>
              </a:prstGeom>
              <a:blipFill rotWithShape="true">
                <a:blip r:embed="rId2"/>
                <a:stretch>
                  <a:fillRect l="-44" t="-155" r="44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流程图: 汇总连接 13"/>
          <p:cNvSpPr/>
          <p:nvPr/>
        </p:nvSpPr>
        <p:spPr>
          <a:xfrm>
            <a:off x="1863725" y="3510915"/>
            <a:ext cx="243840" cy="243840"/>
          </a:xfrm>
          <a:prstGeom prst="flowChartSummingJunction">
            <a:avLst/>
          </a:prstGeom>
          <a:noFill/>
          <a:ln w="28575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cxnSpLocks noChangeAspect="true"/>
          </p:cNvCxnSpPr>
          <p:nvPr/>
        </p:nvCxnSpPr>
        <p:spPr>
          <a:xfrm>
            <a:off x="1438275" y="4200525"/>
            <a:ext cx="310515" cy="30289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true"/>
              <p:nvPr/>
            </p:nvSpPr>
            <p:spPr>
              <a:xfrm>
                <a:off x="1835404" y="3650551"/>
                <a:ext cx="574675" cy="368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𝑩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accent6">
                      <a:lumMod val="75000"/>
                    </a:schemeClr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6" name="文本框 15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835404" y="3650551"/>
                <a:ext cx="574675" cy="368935"/>
              </a:xfrm>
              <a:prstGeom prst="rect">
                <a:avLst/>
              </a:prstGeom>
              <a:blipFill rotWithShape="true">
                <a:blip r:embed="rId3"/>
                <a:stretch>
                  <a:fillRect l="-44" t="-155" r="44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true"/>
              <p:nvPr/>
            </p:nvSpPr>
            <p:spPr>
              <a:xfrm>
                <a:off x="1237869" y="2724721"/>
                <a:ext cx="556895" cy="368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altLang="zh-CN" b="1" i="1">
                  <a:solidFill>
                    <a:schemeClr val="accent6">
                      <a:lumMod val="75000"/>
                    </a:schemeClr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7" name="文本框 16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237869" y="2724721"/>
                <a:ext cx="556895" cy="368935"/>
              </a:xfrm>
              <a:prstGeom prst="rect">
                <a:avLst/>
              </a:prstGeom>
              <a:blipFill rotWithShape="true">
                <a:blip r:embed="rId4"/>
                <a:stretch>
                  <a:fillRect l="-46" t="-155" r="46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true"/>
              <p:nvPr/>
            </p:nvSpPr>
            <p:spPr>
              <a:xfrm>
                <a:off x="3489579" y="3282251"/>
                <a:ext cx="117792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3489579" y="3282251"/>
                <a:ext cx="1177925" cy="368300"/>
              </a:xfrm>
              <a:prstGeom prst="rect">
                <a:avLst/>
              </a:prstGeom>
              <a:blipFill rotWithShape="true">
                <a:blip r:embed="rId5"/>
                <a:stretch>
                  <a:fillRect l="-22" t="-155" r="22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/>
          <p:cNvCxnSpPr/>
          <p:nvPr/>
        </p:nvCxnSpPr>
        <p:spPr>
          <a:xfrm flipH="true" flipV="true">
            <a:off x="1539875" y="3630930"/>
            <a:ext cx="432000" cy="1905"/>
          </a:xfrm>
          <a:prstGeom prst="straightConnector1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true">
            <a:off x="1991360" y="3122295"/>
            <a:ext cx="0" cy="504000"/>
          </a:xfrm>
          <a:prstGeom prst="straightConnector1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true">
            <a:off x="1556385" y="3182620"/>
            <a:ext cx="0" cy="46800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true" flipV="true">
            <a:off x="1571625" y="3148330"/>
            <a:ext cx="432000" cy="1905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1429385" y="4206240"/>
            <a:ext cx="360000" cy="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422400" y="4201160"/>
            <a:ext cx="0" cy="33147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1403985" y="4504690"/>
            <a:ext cx="360000" cy="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768475" y="4185285"/>
            <a:ext cx="0" cy="331470"/>
          </a:xfrm>
          <a:prstGeom prst="straightConnector1">
            <a:avLst/>
          </a:prstGeom>
          <a:ln w="12700" cmpd="sng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true"/>
              <p:nvPr/>
            </p:nvSpPr>
            <p:spPr>
              <a:xfrm>
                <a:off x="1679194" y="4079176"/>
                <a:ext cx="487045" cy="3067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rgbClr val="FF00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5" name="文本框 24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679194" y="4079176"/>
                <a:ext cx="487045" cy="306705"/>
              </a:xfrm>
              <a:prstGeom prst="rect">
                <a:avLst/>
              </a:prstGeom>
              <a:blipFill rotWithShape="true">
                <a:blip r:embed="rId6"/>
                <a:stretch>
                  <a:fillRect l="-52" t="-186" r="52" b="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true"/>
              <p:nvPr/>
            </p:nvSpPr>
            <p:spPr>
              <a:xfrm>
                <a:off x="1171194" y="4493831"/>
                <a:ext cx="456565" cy="3092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FF0000"/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rgbClr val="FF0000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6" name="文本框 25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171194" y="4493831"/>
                <a:ext cx="456565" cy="309245"/>
              </a:xfrm>
              <a:prstGeom prst="rect">
                <a:avLst/>
              </a:prstGeom>
              <a:blipFill rotWithShape="true">
                <a:blip r:embed="rId7"/>
                <a:stretch>
                  <a:fillRect l="-56" t="-185" r="56" b="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true"/>
              <p:nvPr/>
            </p:nvSpPr>
            <p:spPr>
              <a:xfrm>
                <a:off x="1787144" y="2863151"/>
                <a:ext cx="451485" cy="3092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chemeClr val="accent6">
                      <a:lumMod val="75000"/>
                    </a:schemeClr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7" name="文本框 26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787144" y="2863151"/>
                <a:ext cx="451485" cy="309245"/>
              </a:xfrm>
              <a:prstGeom prst="rect">
                <a:avLst/>
              </a:prstGeom>
              <a:blipFill rotWithShape="true">
                <a:blip r:embed="rId8"/>
                <a:stretch>
                  <a:fillRect l="-56" t="-185" r="56" b="1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true"/>
              <p:nvPr/>
            </p:nvSpPr>
            <p:spPr>
              <a:xfrm>
                <a:off x="1123569" y="3428301"/>
                <a:ext cx="459105" cy="30670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solidFill>
                    <a:schemeClr val="accent6">
                      <a:lumMod val="75000"/>
                    </a:schemeClr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8" name="文本框 27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123569" y="3428301"/>
                <a:ext cx="459105" cy="306705"/>
              </a:xfrm>
              <a:prstGeom prst="rect">
                <a:avLst/>
              </a:prstGeom>
              <a:blipFill rotWithShape="true">
                <a:blip r:embed="rId9"/>
                <a:stretch>
                  <a:fillRect l="-55" t="-186" r="55" b="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true"/>
              <p:nvPr/>
            </p:nvSpPr>
            <p:spPr>
              <a:xfrm>
                <a:off x="688340" y="1648460"/>
                <a:ext cx="31940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𝑧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9" name="文本框 28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688340" y="1648460"/>
                <a:ext cx="319405" cy="368300"/>
              </a:xfrm>
              <a:prstGeom prst="rect">
                <a:avLst/>
              </a:prstGeom>
              <a:blipFill rotWithShape="true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/>
          <p:cNvSpPr txBox="true"/>
          <p:nvPr/>
        </p:nvSpPr>
        <p:spPr>
          <a:xfrm>
            <a:off x="4192905" y="31070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31" name="文本框 30"/>
          <p:cNvSpPr txBox="true"/>
          <p:nvPr/>
        </p:nvSpPr>
        <p:spPr>
          <a:xfrm>
            <a:off x="688340" y="340995"/>
            <a:ext cx="12649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>
                <a:solidFill>
                  <a:srgbClr val="FF0000"/>
                </a:solidFill>
              </a:rPr>
              <a:t>s</a:t>
            </a:r>
            <a:r>
              <a:rPr lang="zh-CN" altLang="en-US" b="1">
                <a:solidFill>
                  <a:srgbClr val="FF0000"/>
                </a:solidFill>
              </a:rPr>
              <a:t>波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</a:t>
            </a:r>
            <a:r>
              <a:rPr lang="en-US" altLang="zh-CN" b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波</a:t>
            </a:r>
            <a:endParaRPr lang="zh-CN" altLang="en-US" b="1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true"/>
          <p:nvPr/>
        </p:nvSpPr>
        <p:spPr>
          <a:xfrm>
            <a:off x="1350645" y="267970"/>
            <a:ext cx="89662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b="1"/>
              <a:t>3</a:t>
            </a:r>
            <a:r>
              <a:rPr lang="zh-CN" altLang="en-US" b="1"/>
              <a:t>束</a:t>
            </a:r>
            <a:r>
              <a:rPr lang="en-US" altLang="zh-CN" b="1"/>
              <a:t>s</a:t>
            </a:r>
            <a:r>
              <a:rPr lang="zh-CN" altLang="en-US" b="1"/>
              <a:t>波</a:t>
            </a:r>
            <a:endParaRPr lang="zh-CN" altLang="en-US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418465" y="393065"/>
            <a:ext cx="1598295" cy="1821751"/>
            <a:chOff x="1212" y="1389"/>
            <a:chExt cx="2517" cy="2869"/>
          </a:xfrm>
        </p:grpSpPr>
        <p:cxnSp>
          <p:nvCxnSpPr>
            <p:cNvPr id="2" name="直接箭头连接符 1"/>
            <p:cNvCxnSpPr/>
            <p:nvPr/>
          </p:nvCxnSpPr>
          <p:spPr>
            <a:xfrm>
              <a:off x="1212" y="3722"/>
              <a:ext cx="1781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/>
            <p:cNvCxnSpPr/>
            <p:nvPr/>
          </p:nvCxnSpPr>
          <p:spPr>
            <a:xfrm flipV="true">
              <a:off x="2993" y="1389"/>
              <a:ext cx="0" cy="2333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 flipV="true">
              <a:off x="1227" y="1389"/>
              <a:ext cx="1750" cy="2333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/>
                <p:cNvSpPr txBox="true"/>
                <p:nvPr/>
              </p:nvSpPr>
              <p:spPr>
                <a:xfrm>
                  <a:off x="1308" y="2240"/>
                  <a:ext cx="694" cy="63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ox>
                          <m:boxPr>
                            <m:noBreak m:val="on"/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boxPr>
                          <m:e>
                            <m:groupChr>
                              <m:groupChrPr>
                                <m:chr m:val="→"/>
                                <m:pos m:val="top"/>
                                <m:ctrlPr>
                                  <a:rPr lang="en-US" altLang="zh-CN" i="1">
                                    <a:latin typeface="DejaVu Math TeX Gyre" panose="02000503000000000000" charset="0"/>
                                    <a:cs typeface="DejaVu Math TeX Gyre" panose="02000503000000000000" charset="0"/>
                                  </a:rPr>
                                </m:ctrlPr>
                              </m:groupChr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DejaVu Math TeX Gyre" panose="02000503000000000000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groupChr>
                          </m:e>
                        </m:box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5" name="文本框 4"/>
                <p:cNvSpPr txBox="true">
                  <a:spLocks noRot="true" noChangeAspect="true" noMove="true" noResize="true" noEditPoints="true" noAdjustHandles="true" noChangeArrowheads="true" noChangeShapeType="true" noTextEdit="true"/>
                </p:cNvSpPr>
                <p:nvPr/>
              </p:nvSpPr>
              <p:spPr>
                <a:xfrm>
                  <a:off x="1308" y="2240"/>
                  <a:ext cx="694" cy="631"/>
                </a:xfrm>
                <a:prstGeom prst="rect">
                  <a:avLst/>
                </a:prstGeom>
                <a:blipFill rotWithShape="true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/>
                <p:cNvSpPr txBox="true"/>
                <p:nvPr/>
              </p:nvSpPr>
              <p:spPr>
                <a:xfrm>
                  <a:off x="1663" y="3678"/>
                  <a:ext cx="1073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" name="文本框 5"/>
                <p:cNvSpPr txBox="true">
                  <a:spLocks noRot="true" noChangeAspect="true" noMove="true" noResize="true" noEditPoints="true" noAdjustHandles="true" noChangeArrowheads="true" noChangeShapeType="true" noTextEdit="true"/>
                </p:cNvSpPr>
                <p:nvPr/>
              </p:nvSpPr>
              <p:spPr>
                <a:xfrm>
                  <a:off x="1663" y="3678"/>
                  <a:ext cx="1073" cy="580"/>
                </a:xfrm>
                <a:prstGeom prst="rect">
                  <a:avLst/>
                </a:prstGeom>
                <a:blipFill rotWithShape="true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/>
                <p:cNvSpPr txBox="true"/>
                <p:nvPr/>
              </p:nvSpPr>
              <p:spPr>
                <a:xfrm>
                  <a:off x="2857" y="2287"/>
                  <a:ext cx="872" cy="5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8" name="文本框 7"/>
                <p:cNvSpPr txBox="true">
                  <a:spLocks noRot="true" noChangeAspect="true" noMove="true" noResize="true" noEditPoints="true" noAdjustHandles="true" noChangeArrowheads="true" noChangeShapeType="true" noTextEdit="true"/>
                </p:cNvSpPr>
                <p:nvPr/>
              </p:nvSpPr>
              <p:spPr>
                <a:xfrm>
                  <a:off x="2857" y="2287"/>
                  <a:ext cx="872" cy="584"/>
                </a:xfrm>
                <a:prstGeom prst="rect">
                  <a:avLst/>
                </a:prstGeom>
                <a:blipFill rotWithShape="true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弧形 8"/>
            <p:cNvSpPr/>
            <p:nvPr/>
          </p:nvSpPr>
          <p:spPr>
            <a:xfrm rot="3840000" flipV="true">
              <a:off x="2562" y="1489"/>
              <a:ext cx="588" cy="584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/>
                <p:cNvSpPr txBox="true"/>
                <p:nvPr/>
              </p:nvSpPr>
              <p:spPr>
                <a:xfrm>
                  <a:off x="1770" y="1985"/>
                  <a:ext cx="1852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𝜃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1" name="文本框 10"/>
                <p:cNvSpPr txBox="true">
                  <a:spLocks noRot="true" noChangeAspect="true" noMove="true" noResize="true" noEditPoints="true" noAdjustHandles="true" noChangeArrowheads="true" noChangeShapeType="true" noTextEdit="true"/>
                </p:cNvSpPr>
                <p:nvPr/>
              </p:nvSpPr>
              <p:spPr>
                <a:xfrm>
                  <a:off x="1770" y="1985"/>
                  <a:ext cx="1852" cy="580"/>
                </a:xfrm>
                <a:prstGeom prst="rect">
                  <a:avLst/>
                </a:prstGeom>
                <a:blipFill rotWithShape="true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true"/>
              <p:nvPr/>
            </p:nvSpPr>
            <p:spPr>
              <a:xfrm>
                <a:off x="430149" y="2172271"/>
                <a:ext cx="1281430" cy="47688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box>
                        <m:boxPr>
                          <m:noBreak m:val="on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box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430149" y="2172271"/>
                <a:ext cx="1281430" cy="476885"/>
              </a:xfrm>
              <a:prstGeom prst="rect">
                <a:avLst/>
              </a:prstGeom>
              <a:blipFill rotWithShape="true">
                <a:blip r:embed="rId5"/>
                <a:stretch>
                  <a:fillRect l="-20" t="-120" r="20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箭头连接符 1"/>
          <p:cNvCxnSpPr/>
          <p:nvPr/>
        </p:nvCxnSpPr>
        <p:spPr>
          <a:xfrm>
            <a:off x="836295" y="2548890"/>
            <a:ext cx="3168015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V="true">
            <a:off x="826135" y="1036320"/>
            <a:ext cx="0" cy="151193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cxnSpLocks noChangeAspect="true"/>
          </p:cNvCxnSpPr>
          <p:nvPr/>
        </p:nvCxnSpPr>
        <p:spPr>
          <a:xfrm>
            <a:off x="2141220" y="2548890"/>
            <a:ext cx="1248410" cy="126047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cxnSpLocks noChangeAspect="true"/>
          </p:cNvCxnSpPr>
          <p:nvPr/>
        </p:nvCxnSpPr>
        <p:spPr>
          <a:xfrm flipV="true">
            <a:off x="926465" y="2558415"/>
            <a:ext cx="1214755" cy="120840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true" flipV="true">
            <a:off x="2140585" y="1506220"/>
            <a:ext cx="635" cy="22680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cxnSpLocks noChangeAspect="true"/>
          </p:cNvCxnSpPr>
          <p:nvPr/>
        </p:nvCxnSpPr>
        <p:spPr>
          <a:xfrm flipV="true">
            <a:off x="2127885" y="1684655"/>
            <a:ext cx="1617345" cy="87376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true"/>
              <p:nvPr/>
            </p:nvSpPr>
            <p:spPr>
              <a:xfrm>
                <a:off x="3745865" y="2541270"/>
                <a:ext cx="25844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𝑥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3745865" y="2541270"/>
                <a:ext cx="258445" cy="368300"/>
              </a:xfrm>
              <a:prstGeom prst="rect">
                <a:avLst/>
              </a:prstGeom>
              <a:blipFill rotWithShape="true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/>
          <p:cNvSpPr txBox="true"/>
          <p:nvPr/>
        </p:nvSpPr>
        <p:spPr>
          <a:xfrm>
            <a:off x="4010660" y="236601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31" name="弧形 30"/>
          <p:cNvSpPr/>
          <p:nvPr/>
        </p:nvSpPr>
        <p:spPr>
          <a:xfrm rot="9000000">
            <a:off x="1708785" y="2484120"/>
            <a:ext cx="607695" cy="608330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弧形 31"/>
          <p:cNvSpPr/>
          <p:nvPr/>
        </p:nvSpPr>
        <p:spPr>
          <a:xfrm rot="6720000">
            <a:off x="1956435" y="2493010"/>
            <a:ext cx="589280" cy="59499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/>
              <p:cNvSpPr txBox="true"/>
              <p:nvPr/>
            </p:nvSpPr>
            <p:spPr>
              <a:xfrm>
                <a:off x="1597914" y="3021901"/>
                <a:ext cx="68453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3" name="文本框 32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597914" y="3021901"/>
                <a:ext cx="684530" cy="368300"/>
              </a:xfrm>
              <a:prstGeom prst="rect">
                <a:avLst/>
              </a:prstGeom>
              <a:blipFill rotWithShape="true">
                <a:blip r:embed="rId2"/>
                <a:stretch>
                  <a:fillRect l="-37" t="-155" r="37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true"/>
              <p:nvPr/>
            </p:nvSpPr>
            <p:spPr>
              <a:xfrm>
                <a:off x="2203704" y="3021901"/>
                <a:ext cx="48958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4" name="文本框 33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203704" y="3021901"/>
                <a:ext cx="489585" cy="368300"/>
              </a:xfrm>
              <a:prstGeom prst="rect">
                <a:avLst/>
              </a:prstGeom>
              <a:blipFill rotWithShape="true">
                <a:blip r:embed="rId3"/>
                <a:stretch>
                  <a:fillRect l="-52" t="-155" r="52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弧形 34"/>
          <p:cNvSpPr/>
          <p:nvPr/>
        </p:nvSpPr>
        <p:spPr>
          <a:xfrm rot="20520000">
            <a:off x="1970405" y="2108200"/>
            <a:ext cx="589280" cy="594995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true"/>
              <p:nvPr/>
            </p:nvSpPr>
            <p:spPr>
              <a:xfrm>
                <a:off x="2128139" y="1833816"/>
                <a:ext cx="68453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6" name="文本框 35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128139" y="1833816"/>
                <a:ext cx="684530" cy="368300"/>
              </a:xfrm>
              <a:prstGeom prst="rect">
                <a:avLst/>
              </a:prstGeom>
              <a:blipFill rotWithShape="true">
                <a:blip r:embed="rId4"/>
                <a:stretch>
                  <a:fillRect l="-37" t="-155" r="37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接连接符 36"/>
          <p:cNvCxnSpPr/>
          <p:nvPr/>
        </p:nvCxnSpPr>
        <p:spPr>
          <a:xfrm>
            <a:off x="1116965" y="3564890"/>
            <a:ext cx="10440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118360" y="3566160"/>
            <a:ext cx="10440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true"/>
              <p:nvPr/>
            </p:nvSpPr>
            <p:spPr>
              <a:xfrm>
                <a:off x="1447419" y="3526726"/>
                <a:ext cx="50800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9" name="文本框 38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447419" y="3526726"/>
                <a:ext cx="508000" cy="368300"/>
              </a:xfrm>
              <a:prstGeom prst="rect">
                <a:avLst/>
              </a:prstGeom>
              <a:blipFill rotWithShape="true">
                <a:blip r:embed="rId5"/>
                <a:stretch>
                  <a:fillRect l="-50" t="-155" r="50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true"/>
              <p:nvPr/>
            </p:nvSpPr>
            <p:spPr>
              <a:xfrm>
                <a:off x="2304669" y="3517201"/>
                <a:ext cx="50800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0" name="文本框 39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304669" y="3517201"/>
                <a:ext cx="508000" cy="368300"/>
              </a:xfrm>
              <a:prstGeom prst="rect">
                <a:avLst/>
              </a:prstGeom>
              <a:blipFill rotWithShape="true">
                <a:blip r:embed="rId5"/>
                <a:stretch>
                  <a:fillRect l="-50" t="-155" r="50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true"/>
              <p:nvPr/>
            </p:nvSpPr>
            <p:spPr>
              <a:xfrm>
                <a:off x="1103630" y="2928620"/>
                <a:ext cx="29337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2" name="文本框 41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103630" y="2928620"/>
                <a:ext cx="293370" cy="368300"/>
              </a:xfrm>
              <a:prstGeom prst="rect">
                <a:avLst/>
              </a:prstGeom>
              <a:blipFill rotWithShape="true">
                <a:blip r:embed="rId6"/>
                <a:stretch>
                  <a:fillRect r="-26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/>
              <p:cNvSpPr txBox="true"/>
              <p:nvPr/>
            </p:nvSpPr>
            <p:spPr>
              <a:xfrm>
                <a:off x="2682875" y="2909570"/>
                <a:ext cx="37020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3" name="文本框 42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682875" y="2909570"/>
                <a:ext cx="370205" cy="368300"/>
              </a:xfrm>
              <a:prstGeom prst="rect">
                <a:avLst/>
              </a:prstGeom>
              <a:blipFill rotWithShape="true">
                <a:blip r:embed="rId6"/>
                <a:stretch>
                  <a:fillRect r="-3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true"/>
              <p:nvPr/>
            </p:nvSpPr>
            <p:spPr>
              <a:xfrm>
                <a:off x="2853944" y="2033206"/>
                <a:ext cx="52387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4" name="文本框 43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853944" y="2033206"/>
                <a:ext cx="523875" cy="368300"/>
              </a:xfrm>
              <a:prstGeom prst="rect">
                <a:avLst/>
              </a:prstGeom>
              <a:blipFill rotWithShape="true">
                <a:blip r:embed="rId7"/>
                <a:stretch>
                  <a:fillRect l="-48" t="-155" r="48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连接符 44"/>
          <p:cNvCxnSpPr/>
          <p:nvPr/>
        </p:nvCxnSpPr>
        <p:spPr>
          <a:xfrm>
            <a:off x="2160905" y="1684655"/>
            <a:ext cx="15480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true"/>
              <p:nvPr/>
            </p:nvSpPr>
            <p:spPr>
              <a:xfrm>
                <a:off x="2467864" y="1362011"/>
                <a:ext cx="59563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8" name="文本框 47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467864" y="1362011"/>
                <a:ext cx="595630" cy="368300"/>
              </a:xfrm>
              <a:prstGeom prst="rect">
                <a:avLst/>
              </a:prstGeom>
              <a:blipFill rotWithShape="true">
                <a:blip r:embed="rId8"/>
                <a:stretch>
                  <a:fillRect l="-43" t="-155" r="43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true"/>
              <p:nvPr/>
            </p:nvSpPr>
            <p:spPr>
              <a:xfrm>
                <a:off x="1632204" y="1837626"/>
                <a:ext cx="570865" cy="3708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𝑡𝑧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9" name="文本框 48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632204" y="1837626"/>
                <a:ext cx="570865" cy="370840"/>
              </a:xfrm>
              <a:prstGeom prst="rect">
                <a:avLst/>
              </a:prstGeom>
              <a:blipFill rotWithShape="true">
                <a:blip r:embed="rId9"/>
                <a:stretch>
                  <a:fillRect l="-44" t="-154" r="44" b="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true"/>
              <p:nvPr/>
            </p:nvSpPr>
            <p:spPr>
              <a:xfrm>
                <a:off x="2281174" y="930846"/>
                <a:ext cx="1555750" cy="6711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1" name="文本框 50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281174" y="930846"/>
                <a:ext cx="1555750" cy="671195"/>
              </a:xfrm>
              <a:prstGeom prst="rect">
                <a:avLst/>
              </a:prstGeom>
              <a:blipFill rotWithShape="true">
                <a:blip r:embed="rId10"/>
                <a:stretch>
                  <a:fillRect l="-16" t="-85" r="16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true"/>
              <p:nvPr/>
            </p:nvSpPr>
            <p:spPr>
              <a:xfrm>
                <a:off x="506730" y="965200"/>
                <a:ext cx="31940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𝑧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2" name="文本框 51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506730" y="965200"/>
                <a:ext cx="319405" cy="368300"/>
              </a:xfrm>
              <a:prstGeom prst="rect">
                <a:avLst/>
              </a:prstGeom>
              <a:blipFill rotWithShape="true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true"/>
              <p:nvPr/>
            </p:nvSpPr>
            <p:spPr>
              <a:xfrm>
                <a:off x="1063244" y="4624006"/>
                <a:ext cx="2217420" cy="3848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反射定律：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063244" y="4624006"/>
                <a:ext cx="2217420" cy="384810"/>
              </a:xfrm>
              <a:prstGeom prst="rect">
                <a:avLst/>
              </a:prstGeom>
              <a:blipFill rotWithShape="true">
                <a:blip r:embed="rId12"/>
                <a:stretch>
                  <a:fillRect l="-11" t="-148" r="11" b="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true"/>
              <p:nvPr/>
            </p:nvSpPr>
            <p:spPr>
              <a:xfrm>
                <a:off x="-84201" y="18351"/>
                <a:ext cx="5142230" cy="7962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折射定律：</m:t>
                      </m:r>
                      <m:f>
                        <m:f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zh-CN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zh-CN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=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𝜔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)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𝜔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)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𝜔</m:t>
                              </m:r>
                            </m:den>
                          </m:f>
                        </m:e>
                      </m:rad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-84201" y="18351"/>
                <a:ext cx="5142230" cy="796290"/>
              </a:xfrm>
              <a:prstGeom prst="rect">
                <a:avLst/>
              </a:prstGeom>
              <a:blipFill rotWithShape="true">
                <a:blip r:embed="rId13"/>
                <a:stretch>
                  <a:fillRect l="7" t="-72" r="5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true"/>
              <p:nvPr/>
            </p:nvSpPr>
            <p:spPr>
              <a:xfrm>
                <a:off x="749300" y="3503930"/>
                <a:ext cx="23431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𝑖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749300" y="3503930"/>
                <a:ext cx="234315" cy="368300"/>
              </a:xfrm>
              <a:prstGeom prst="rect">
                <a:avLst/>
              </a:prstGeom>
              <a:blipFill rotWithShape="true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true"/>
              <p:nvPr/>
            </p:nvSpPr>
            <p:spPr>
              <a:xfrm>
                <a:off x="3300730" y="3501390"/>
                <a:ext cx="23431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𝑟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" name="文本框 8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3300730" y="3501390"/>
                <a:ext cx="234315" cy="368300"/>
              </a:xfrm>
              <a:prstGeom prst="rect">
                <a:avLst/>
              </a:prstGeom>
              <a:blipFill rotWithShape="true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true"/>
              <p:nvPr/>
            </p:nvSpPr>
            <p:spPr>
              <a:xfrm>
                <a:off x="3636010" y="1589405"/>
                <a:ext cx="23431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" name="文本框 9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3636010" y="1589405"/>
                <a:ext cx="234315" cy="368300"/>
              </a:xfrm>
              <a:prstGeom prst="rect">
                <a:avLst/>
              </a:prstGeom>
              <a:blipFill rotWithShape="true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true"/>
              <p:nvPr/>
            </p:nvSpPr>
            <p:spPr>
              <a:xfrm>
                <a:off x="551180" y="3828415"/>
                <a:ext cx="1590040" cy="67119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" name="文本框 13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551180" y="3828415"/>
                <a:ext cx="1590040" cy="671195"/>
              </a:xfrm>
              <a:prstGeom prst="rect">
                <a:avLst/>
              </a:prstGeom>
              <a:blipFill rotWithShape="true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true"/>
              <p:nvPr/>
            </p:nvSpPr>
            <p:spPr>
              <a:xfrm>
                <a:off x="2140585" y="3853180"/>
                <a:ext cx="1682115" cy="6711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𝑟</m:t>
                              </m:r>
                            </m:sub>
                          </m:sSub>
                        </m:e>
                      </m:func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DejaVu Math TeX Gyre" panose="02000503000000000000" charset="0"/>
                                      <a:cs typeface="DejaVu Math TeX Gyre" panose="02000503000000000000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5" name="文本框 14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140585" y="3853180"/>
                <a:ext cx="1682115" cy="671195"/>
              </a:xfrm>
              <a:prstGeom prst="rect">
                <a:avLst/>
              </a:prstGeom>
              <a:blipFill rotWithShape="true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 flipV="true">
            <a:off x="769620" y="2221865"/>
            <a:ext cx="262001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V="true">
            <a:off x="798195" y="2612390"/>
            <a:ext cx="262001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true">
            <a:off x="510540" y="1415415"/>
            <a:ext cx="0" cy="190690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77240" y="1421130"/>
            <a:ext cx="2620645" cy="789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98195" y="2623820"/>
            <a:ext cx="2620645" cy="6324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 flipV="true">
            <a:off x="1146810" y="2252345"/>
            <a:ext cx="360000" cy="3600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499870" y="2242185"/>
            <a:ext cx="360000" cy="3600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true">
            <a:off x="1856740" y="2253615"/>
            <a:ext cx="360000" cy="3600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2209800" y="2243455"/>
            <a:ext cx="360000" cy="3600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true">
            <a:off x="2571115" y="2247900"/>
            <a:ext cx="360000" cy="3600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2924175" y="2237740"/>
            <a:ext cx="360000" cy="36000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true"/>
          <p:nvPr/>
        </p:nvSpPr>
        <p:spPr>
          <a:xfrm>
            <a:off x="777240" y="1421130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理想金属</a:t>
            </a:r>
            <a:endParaRPr lang="zh-CN" altLang="en-US" sz="1400"/>
          </a:p>
        </p:txBody>
      </p:sp>
      <p:sp>
        <p:nvSpPr>
          <p:cNvPr id="19" name="文本框 18"/>
          <p:cNvSpPr txBox="true"/>
          <p:nvPr/>
        </p:nvSpPr>
        <p:spPr>
          <a:xfrm>
            <a:off x="781050" y="294957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理想金属</a:t>
            </a:r>
            <a:endParaRPr lang="zh-CN" altLang="en-US" sz="1400"/>
          </a:p>
        </p:txBody>
      </p:sp>
      <p:sp>
        <p:nvSpPr>
          <p:cNvPr id="20" name="文本框 19"/>
          <p:cNvSpPr txBox="true"/>
          <p:nvPr/>
        </p:nvSpPr>
        <p:spPr>
          <a:xfrm>
            <a:off x="680085" y="2264410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真空</a:t>
            </a:r>
            <a:endParaRPr lang="zh-CN" altLang="en-US" sz="1400"/>
          </a:p>
        </p:txBody>
      </p:sp>
      <p:sp>
        <p:nvSpPr>
          <p:cNvPr id="21" name="文本框 20"/>
          <p:cNvSpPr txBox="true"/>
          <p:nvPr/>
        </p:nvSpPr>
        <p:spPr>
          <a:xfrm>
            <a:off x="220980" y="2067560"/>
            <a:ext cx="390525" cy="687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ts val="1550"/>
              </a:lnSpc>
            </a:pPr>
            <a:r>
              <a:rPr lang="en-US" altLang="zh-CN" sz="1400"/>
              <a:t>a -</a:t>
            </a:r>
            <a:endParaRPr lang="en-US" altLang="zh-CN" sz="1400"/>
          </a:p>
          <a:p>
            <a:pPr fontAlgn="auto">
              <a:lnSpc>
                <a:spcPts val="1550"/>
              </a:lnSpc>
            </a:pPr>
            <a:endParaRPr lang="en-US" altLang="zh-CN" sz="1400"/>
          </a:p>
          <a:p>
            <a:pPr fontAlgn="auto">
              <a:lnSpc>
                <a:spcPts val="1550"/>
              </a:lnSpc>
            </a:pPr>
            <a:r>
              <a:rPr lang="en-US" altLang="zh-CN" sz="1400"/>
              <a:t>0 -</a:t>
            </a:r>
            <a:endParaRPr lang="en-US" altLang="zh-CN" sz="1400"/>
          </a:p>
        </p:txBody>
      </p:sp>
      <p:sp>
        <p:nvSpPr>
          <p:cNvPr id="22" name="文本框 21"/>
          <p:cNvSpPr txBox="true"/>
          <p:nvPr/>
        </p:nvSpPr>
        <p:spPr>
          <a:xfrm>
            <a:off x="354965" y="1102360"/>
            <a:ext cx="322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Z</a:t>
            </a:r>
            <a:endParaRPr lang="en-US" altLang="zh-CN"/>
          </a:p>
        </p:txBody>
      </p:sp>
      <p:cxnSp>
        <p:nvCxnSpPr>
          <p:cNvPr id="23" name="直接箭头连接符 22"/>
          <p:cNvCxnSpPr/>
          <p:nvPr/>
        </p:nvCxnSpPr>
        <p:spPr>
          <a:xfrm flipV="true">
            <a:off x="3796030" y="2242185"/>
            <a:ext cx="360000" cy="360000"/>
          </a:xfrm>
          <a:prstGeom prst="straightConnector1">
            <a:avLst/>
          </a:prstGeom>
          <a:ln w="19050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3796030" y="2243455"/>
            <a:ext cx="360000" cy="360000"/>
          </a:xfrm>
          <a:prstGeom prst="straightConnector1">
            <a:avLst/>
          </a:prstGeom>
          <a:ln w="19050"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true"/>
          <p:nvPr/>
        </p:nvSpPr>
        <p:spPr>
          <a:xfrm>
            <a:off x="4081145" y="2052955"/>
            <a:ext cx="7162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/>
              <a:t>正方向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负方向</a:t>
            </a:r>
            <a:endParaRPr lang="zh-CN" altLang="en-US" sz="1400"/>
          </a:p>
        </p:txBody>
      </p:sp>
      <p:sp>
        <p:nvSpPr>
          <p:cNvPr id="26" name="文本框 25"/>
          <p:cNvSpPr txBox="true"/>
          <p:nvPr/>
        </p:nvSpPr>
        <p:spPr>
          <a:xfrm>
            <a:off x="3567430" y="2821940"/>
            <a:ext cx="14382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任一点两束波叠加</a:t>
            </a:r>
            <a:endParaRPr lang="zh-CN" altLang="en-US" sz="120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504190" y="3322320"/>
            <a:ext cx="31320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true"/>
          <p:nvPr/>
        </p:nvSpPr>
        <p:spPr>
          <a:xfrm>
            <a:off x="3418840" y="3305175"/>
            <a:ext cx="335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/>
              <a:t>X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椭圆 9"/>
          <p:cNvSpPr>
            <a:spLocks noChangeAspect="true"/>
          </p:cNvSpPr>
          <p:nvPr/>
        </p:nvSpPr>
        <p:spPr>
          <a:xfrm>
            <a:off x="998220" y="1007110"/>
            <a:ext cx="3024000" cy="3024000"/>
          </a:xfrm>
          <a:prstGeom prst="ellipse">
            <a:avLst/>
          </a:prstGeom>
          <a:solidFill>
            <a:schemeClr val="accent1">
              <a:alpha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箭头连接符 1"/>
          <p:cNvCxnSpPr/>
          <p:nvPr/>
        </p:nvCxnSpPr>
        <p:spPr>
          <a:xfrm>
            <a:off x="1080135" y="2519680"/>
            <a:ext cx="2880000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V="true">
            <a:off x="2519680" y="1079500"/>
            <a:ext cx="0" cy="2880000"/>
          </a:xfrm>
          <a:prstGeom prst="straightConnector1">
            <a:avLst/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true"/>
              <p:nvPr/>
            </p:nvSpPr>
            <p:spPr>
              <a:xfrm>
                <a:off x="2353945" y="1744345"/>
                <a:ext cx="579755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𝜃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文本框 3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353945" y="1744345"/>
                <a:ext cx="579755" cy="368300"/>
              </a:xfrm>
              <a:prstGeom prst="rect">
                <a:avLst/>
              </a:prstGeom>
              <a:blipFill rotWithShape="true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/>
          <p:cNvCxnSpPr>
            <a:cxnSpLocks noChangeAspect="true"/>
          </p:cNvCxnSpPr>
          <p:nvPr/>
        </p:nvCxnSpPr>
        <p:spPr>
          <a:xfrm flipV="true">
            <a:off x="1430020" y="1461770"/>
            <a:ext cx="2160000" cy="2160000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cxnSpLocks noChangeAspect="true"/>
          </p:cNvCxnSpPr>
          <p:nvPr/>
        </p:nvCxnSpPr>
        <p:spPr>
          <a:xfrm>
            <a:off x="1443990" y="1443990"/>
            <a:ext cx="2160000" cy="2160000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true">
            <a:off x="1957705" y="1117600"/>
            <a:ext cx="1133475" cy="2793365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true" flipV="true">
            <a:off x="1947545" y="1117600"/>
            <a:ext cx="1123315" cy="2783205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true">
            <a:off x="1132840" y="1892935"/>
            <a:ext cx="2763520" cy="1262380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102995" y="1972310"/>
            <a:ext cx="2813050" cy="1073785"/>
          </a:xfrm>
          <a:prstGeom prst="straightConnector1">
            <a:avLst/>
          </a:prstGeom>
          <a:ln w="2222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true"/>
          <p:nvPr/>
        </p:nvSpPr>
        <p:spPr>
          <a:xfrm>
            <a:off x="3604260" y="2519680"/>
            <a:ext cx="474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Re</a:t>
            </a:r>
            <a:endParaRPr lang="en-US" altLang="zh-CN"/>
          </a:p>
        </p:txBody>
      </p:sp>
      <p:sp>
        <p:nvSpPr>
          <p:cNvPr id="16" name="文本框 15"/>
          <p:cNvSpPr txBox="true"/>
          <p:nvPr/>
        </p:nvSpPr>
        <p:spPr>
          <a:xfrm>
            <a:off x="2082800" y="1079500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Im</a:t>
            </a:r>
            <a:endParaRPr lang="en-US" altLang="zh-CN"/>
          </a:p>
        </p:txBody>
      </p:sp>
      <p:sp>
        <p:nvSpPr>
          <p:cNvPr id="17" name="弧形 16"/>
          <p:cNvSpPr/>
          <p:nvPr/>
        </p:nvSpPr>
        <p:spPr>
          <a:xfrm>
            <a:off x="2454275" y="2047875"/>
            <a:ext cx="229235" cy="162560"/>
          </a:xfrm>
          <a:prstGeom prst="arc">
            <a:avLst>
              <a:gd name="adj1" fmla="val 14785985"/>
              <a:gd name="adj2" fmla="val 0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V="true">
            <a:off x="1274445" y="1645285"/>
            <a:ext cx="2468880" cy="1757680"/>
          </a:xfrm>
          <a:prstGeom prst="straightConnector1">
            <a:avLst/>
          </a:prstGeom>
          <a:ln w="50800">
            <a:solidFill>
              <a:srgbClr val="FD33FB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true">
            <a:off x="2504440" y="1645920"/>
            <a:ext cx="1238885" cy="873125"/>
          </a:xfrm>
          <a:prstGeom prst="straightConnector1">
            <a:avLst/>
          </a:prstGeom>
          <a:ln w="508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92785" y="2127885"/>
            <a:ext cx="4102735" cy="784860"/>
          </a:xfrm>
          <a:prstGeom prst="rect">
            <a:avLst/>
          </a:prstGeom>
          <a:solidFill>
            <a:schemeClr val="accent1">
              <a:lumMod val="40000"/>
              <a:lumOff val="60000"/>
              <a:alpha val="78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 flipH="true" flipV="true">
            <a:off x="692785" y="1080135"/>
            <a:ext cx="10160" cy="2880000"/>
          </a:xfrm>
          <a:prstGeom prst="line">
            <a:avLst/>
          </a:prstGeom>
          <a:ln w="317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true" flipV="true">
            <a:off x="4794250" y="1080135"/>
            <a:ext cx="10160" cy="28800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true"/>
              <p:nvPr/>
            </p:nvSpPr>
            <p:spPr>
              <a:xfrm>
                <a:off x="1321435" y="2336165"/>
                <a:ext cx="3135630" cy="3606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𝜀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(&gt;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), 两束波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𝑧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=±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𝑖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𝛽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321435" y="2336165"/>
                <a:ext cx="3135630" cy="360680"/>
              </a:xfrm>
              <a:prstGeom prst="rect">
                <a:avLst/>
              </a:prstGeom>
              <a:blipFill rotWithShape="true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true"/>
              <p:nvPr/>
            </p:nvSpPr>
            <p:spPr>
              <a:xfrm>
                <a:off x="1331595" y="2998470"/>
                <a:ext cx="3462020" cy="4711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  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𝑧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 −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331595" y="2998470"/>
                <a:ext cx="3462020" cy="471170"/>
              </a:xfrm>
              <a:prstGeom prst="rect">
                <a:avLst/>
              </a:prstGeom>
              <a:blipFill rotWithShape="true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true"/>
              <p:nvPr/>
            </p:nvSpPr>
            <p:spPr>
              <a:xfrm>
                <a:off x="1331595" y="1513840"/>
                <a:ext cx="3216910" cy="4711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  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𝑧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 </m:t>
                      </m:r>
                      <m:rad>
                        <m:radPr>
                          <m:degHide m:val="on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331595" y="1513840"/>
                <a:ext cx="3216910" cy="471170"/>
              </a:xfrm>
              <a:prstGeom prst="rect">
                <a:avLst/>
              </a:prstGeom>
              <a:blipFill rotWithShape="true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true"/>
          <p:nvPr/>
        </p:nvSpPr>
        <p:spPr>
          <a:xfrm>
            <a:off x="683355" y="1590040"/>
            <a:ext cx="8051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真空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介质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真空</a:t>
            </a:r>
            <a:endParaRPr lang="zh-CN" altLang="en-US" sz="2400"/>
          </a:p>
        </p:txBody>
      </p:sp>
      <p:sp>
        <p:nvSpPr>
          <p:cNvPr id="9" name="文本框 8"/>
          <p:cNvSpPr txBox="true"/>
          <p:nvPr/>
        </p:nvSpPr>
        <p:spPr>
          <a:xfrm>
            <a:off x="469265" y="789940"/>
            <a:ext cx="322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Z</a:t>
            </a:r>
            <a:endParaRPr lang="en-US" altLang="zh-CN"/>
          </a:p>
        </p:txBody>
      </p:sp>
      <p:sp>
        <p:nvSpPr>
          <p:cNvPr id="10" name="文本框 9"/>
          <p:cNvSpPr txBox="true"/>
          <p:nvPr/>
        </p:nvSpPr>
        <p:spPr>
          <a:xfrm>
            <a:off x="190500" y="1992630"/>
            <a:ext cx="597535" cy="11430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ts val="2050"/>
              </a:lnSpc>
            </a:pPr>
            <a:r>
              <a:rPr lang="en-US" altLang="zh-CN" sz="2800"/>
              <a:t>a -</a:t>
            </a:r>
            <a:endParaRPr lang="en-US" altLang="zh-CN" sz="2800"/>
          </a:p>
          <a:p>
            <a:pPr fontAlgn="auto">
              <a:lnSpc>
                <a:spcPts val="2050"/>
              </a:lnSpc>
            </a:pPr>
            <a:endParaRPr lang="en-US" altLang="zh-CN" sz="2800"/>
          </a:p>
          <a:p>
            <a:pPr fontAlgn="auto">
              <a:lnSpc>
                <a:spcPts val="2050"/>
              </a:lnSpc>
            </a:pPr>
            <a:endParaRPr lang="en-US" altLang="zh-CN" sz="2800"/>
          </a:p>
          <a:p>
            <a:pPr fontAlgn="auto">
              <a:lnSpc>
                <a:spcPts val="2050"/>
              </a:lnSpc>
            </a:pPr>
            <a:r>
              <a:rPr lang="en-US" altLang="zh-CN" sz="2800"/>
              <a:t>0 -</a:t>
            </a:r>
            <a:endParaRPr lang="en-US" altLang="zh-CN" sz="2800"/>
          </a:p>
        </p:txBody>
      </p:sp>
      <p:cxnSp>
        <p:nvCxnSpPr>
          <p:cNvPr id="12" name="直接箭头连接符 11"/>
          <p:cNvCxnSpPr/>
          <p:nvPr/>
        </p:nvCxnSpPr>
        <p:spPr>
          <a:xfrm flipV="true">
            <a:off x="1666875" y="1344295"/>
            <a:ext cx="522000" cy="810000"/>
          </a:xfrm>
          <a:prstGeom prst="straightConnector1">
            <a:avLst/>
          </a:prstGeom>
          <a:ln w="25400">
            <a:solidFill>
              <a:srgbClr val="FF8D4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667510" y="2912745"/>
            <a:ext cx="521335" cy="808990"/>
          </a:xfrm>
          <a:prstGeom prst="straightConnector1">
            <a:avLst/>
          </a:prstGeom>
          <a:ln w="25400">
            <a:solidFill>
              <a:srgbClr val="FF8D4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true">
            <a:off x="1667510" y="2290445"/>
            <a:ext cx="1057910" cy="647700"/>
          </a:xfrm>
          <a:prstGeom prst="straightConnector1">
            <a:avLst/>
          </a:prstGeom>
          <a:ln w="25400">
            <a:solidFill>
              <a:srgbClr val="FF8D4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1666875" y="2115185"/>
            <a:ext cx="1009015" cy="612775"/>
          </a:xfrm>
          <a:prstGeom prst="straightConnector1">
            <a:avLst/>
          </a:prstGeom>
          <a:ln w="25400">
            <a:solidFill>
              <a:srgbClr val="FF8D4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弧形 15"/>
          <p:cNvSpPr/>
          <p:nvPr/>
        </p:nvSpPr>
        <p:spPr>
          <a:xfrm flipH="true">
            <a:off x="2595880" y="3029585"/>
            <a:ext cx="1230630" cy="1780540"/>
          </a:xfrm>
          <a:prstGeom prst="arc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弧形 16"/>
          <p:cNvSpPr/>
          <p:nvPr/>
        </p:nvSpPr>
        <p:spPr>
          <a:xfrm flipH="true" flipV="true">
            <a:off x="2806065" y="167640"/>
            <a:ext cx="1230630" cy="1767840"/>
          </a:xfrm>
          <a:prstGeom prst="arc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 rot="0">
            <a:off x="1031240" y="1868805"/>
            <a:ext cx="3755390" cy="1150620"/>
            <a:chOff x="361" y="2895"/>
            <a:chExt cx="5914" cy="1812"/>
          </a:xfrm>
        </p:grpSpPr>
        <p:sp>
          <p:nvSpPr>
            <p:cNvPr id="19" name="矩形 18"/>
            <p:cNvSpPr/>
            <p:nvPr/>
          </p:nvSpPr>
          <p:spPr>
            <a:xfrm>
              <a:off x="412" y="3495"/>
              <a:ext cx="5863" cy="627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/>
            <p:nvPr/>
          </p:nvCxnSpPr>
          <p:spPr>
            <a:xfrm flipV="true">
              <a:off x="2777" y="3505"/>
              <a:ext cx="501" cy="626"/>
            </a:xfrm>
            <a:prstGeom prst="line">
              <a:avLst/>
            </a:prstGeom>
            <a:ln w="19050"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278" y="3505"/>
              <a:ext cx="548" cy="642"/>
            </a:xfrm>
            <a:prstGeom prst="line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V="true">
              <a:off x="3835" y="3496"/>
              <a:ext cx="501" cy="626"/>
            </a:xfrm>
            <a:prstGeom prst="line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4336" y="3496"/>
              <a:ext cx="548" cy="642"/>
            </a:xfrm>
            <a:prstGeom prst="line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true">
              <a:off x="4890" y="3501"/>
              <a:ext cx="501" cy="626"/>
            </a:xfrm>
            <a:prstGeom prst="line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5391" y="3501"/>
              <a:ext cx="548" cy="642"/>
            </a:xfrm>
            <a:prstGeom prst="line">
              <a:avLst/>
            </a:prstGeom>
            <a:ln w="1905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true"/>
                <p:nvPr/>
              </p:nvSpPr>
              <p:spPr>
                <a:xfrm>
                  <a:off x="587" y="3518"/>
                  <a:ext cx="1637" cy="58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𝜀</m:t>
                        </m:r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(&gt;</m:t>
                            </m:r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8" name="文本框 17"/>
                <p:cNvSpPr txBox="true">
                  <a:spLocks noRot="true" noChangeAspect="true" noMove="true" noResize="true" noEditPoints="true" noAdjustHandles="true" noChangeArrowheads="true" noChangeShapeType="true" noTextEdit="true"/>
                </p:cNvSpPr>
                <p:nvPr/>
              </p:nvSpPr>
              <p:spPr>
                <a:xfrm>
                  <a:off x="587" y="3518"/>
                  <a:ext cx="1637" cy="581"/>
                </a:xfrm>
                <a:prstGeom prst="rect">
                  <a:avLst/>
                </a:prstGeom>
                <a:blipFill rotWithShape="true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true"/>
                <p:nvPr/>
              </p:nvSpPr>
              <p:spPr>
                <a:xfrm>
                  <a:off x="361" y="2895"/>
                  <a:ext cx="865" cy="58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0" name="文本框 19"/>
                <p:cNvSpPr txBox="true">
                  <a:spLocks noRot="true" noChangeAspect="true" noMove="true" noResize="true" noEditPoints="true" noAdjustHandles="true" noChangeArrowheads="true" noChangeShapeType="true" noTextEdit="true"/>
                </p:cNvSpPr>
                <p:nvPr/>
              </p:nvSpPr>
              <p:spPr>
                <a:xfrm>
                  <a:off x="361" y="2895"/>
                  <a:ext cx="865" cy="581"/>
                </a:xfrm>
                <a:prstGeom prst="rect">
                  <a:avLst/>
                </a:prstGeom>
                <a:blipFill rotWithShape="true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true"/>
                <p:nvPr/>
              </p:nvSpPr>
              <p:spPr>
                <a:xfrm>
                  <a:off x="412" y="4126"/>
                  <a:ext cx="865" cy="581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CN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" name="文本框 20"/>
                <p:cNvSpPr txBox="true">
                  <a:spLocks noRot="true" noChangeAspect="true" noMove="true" noResize="true" noEditPoints="true" noAdjustHandles="true" noChangeArrowheads="true" noChangeShapeType="true" noTextEdit="true"/>
                </p:cNvSpPr>
                <p:nvPr/>
              </p:nvSpPr>
              <p:spPr>
                <a:xfrm>
                  <a:off x="412" y="4126"/>
                  <a:ext cx="865" cy="581"/>
                </a:xfrm>
                <a:prstGeom prst="rect">
                  <a:avLst/>
                </a:prstGeom>
                <a:blipFill rotWithShape="true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直接箭头连接符 23"/>
          <p:cNvCxnSpPr/>
          <p:nvPr/>
        </p:nvCxnSpPr>
        <p:spPr>
          <a:xfrm flipV="true">
            <a:off x="1031240" y="2651125"/>
            <a:ext cx="1534160" cy="568960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533650" y="2651125"/>
            <a:ext cx="1503045" cy="6102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true">
            <a:off x="2883535" y="1868805"/>
            <a:ext cx="929640" cy="38100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true"/>
              <p:nvPr/>
            </p:nvSpPr>
            <p:spPr>
              <a:xfrm>
                <a:off x="1512824" y="2920301"/>
                <a:ext cx="709295" cy="37401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9" name="文本框 28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512824" y="2920301"/>
                <a:ext cx="709295" cy="374015"/>
              </a:xfrm>
              <a:prstGeom prst="rect">
                <a:avLst/>
              </a:prstGeom>
              <a:blipFill rotWithShape="true">
                <a:blip r:embed="rId3"/>
                <a:stretch>
                  <a:fillRect l="-36" t="-153" r="36" b="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true"/>
              <p:nvPr/>
            </p:nvSpPr>
            <p:spPr>
              <a:xfrm>
                <a:off x="2993644" y="3029521"/>
                <a:ext cx="64389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0" name="文本框 29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993644" y="3029521"/>
                <a:ext cx="643890" cy="368300"/>
              </a:xfrm>
              <a:prstGeom prst="rect">
                <a:avLst/>
              </a:prstGeom>
              <a:blipFill rotWithShape="true">
                <a:blip r:embed="rId4"/>
                <a:stretch>
                  <a:fillRect l="-39" t="-155" r="39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/>
          <p:cNvSpPr txBox="true"/>
          <p:nvPr/>
        </p:nvSpPr>
        <p:spPr>
          <a:xfrm>
            <a:off x="8890" y="2025015"/>
            <a:ext cx="1156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真空</a:t>
            </a:r>
            <a:endParaRPr lang="en-US" altLang="zh-CN"/>
          </a:p>
          <a:p>
            <a:r>
              <a:rPr lang="zh-CN" altLang="en-US"/>
              <a:t>介电介质</a:t>
            </a:r>
            <a:endParaRPr lang="en-US" altLang="zh-CN"/>
          </a:p>
          <a:p>
            <a:r>
              <a:rPr lang="zh-CN" altLang="en-US"/>
              <a:t>真空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/>
              <p:cNvSpPr txBox="true"/>
              <p:nvPr/>
            </p:nvSpPr>
            <p:spPr>
              <a:xfrm>
                <a:off x="3117469" y="1494726"/>
                <a:ext cx="643890" cy="3689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3</m:t>
                          </m:r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2" name="文本框 31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3117469" y="1494726"/>
                <a:ext cx="643890" cy="368935"/>
              </a:xfrm>
              <a:prstGeom prst="rect">
                <a:avLst/>
              </a:prstGeom>
              <a:blipFill rotWithShape="true">
                <a:blip r:embed="rId5"/>
                <a:stretch>
                  <a:fillRect l="-39" t="-155" r="39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椭圆 2"/>
          <p:cNvSpPr/>
          <p:nvPr/>
        </p:nvSpPr>
        <p:spPr>
          <a:xfrm>
            <a:off x="340360" y="1642745"/>
            <a:ext cx="1754505" cy="175450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647065" y="1949450"/>
            <a:ext cx="1141095" cy="114109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stCxn id="4" idx="0"/>
            <a:endCxn id="5" idx="6"/>
          </p:cNvCxnSpPr>
          <p:nvPr/>
        </p:nvCxnSpPr>
        <p:spPr>
          <a:xfrm>
            <a:off x="1217930" y="1949450"/>
            <a:ext cx="3220720" cy="570865"/>
          </a:xfrm>
          <a:prstGeom prst="line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ysDash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true">
            <a:off x="647065" y="2519680"/>
            <a:ext cx="3747135" cy="0"/>
          </a:xfrm>
          <a:prstGeom prst="line">
            <a:avLst/>
          </a:prstGeom>
          <a:ln w="31750" cmpd="sng">
            <a:solidFill>
              <a:srgbClr val="C00000"/>
            </a:solidFill>
            <a:prstDash val="sysDash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245870" y="2645410"/>
            <a:ext cx="3168000" cy="0"/>
          </a:xfrm>
          <a:prstGeom prst="line">
            <a:avLst/>
          </a:prstGeom>
          <a:ln w="28575" cmpd="sng">
            <a:solidFill>
              <a:srgbClr val="FD33FB"/>
            </a:solidFill>
            <a:prstDash val="sysDash"/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6" idx="4"/>
          </p:cNvCxnSpPr>
          <p:nvPr/>
        </p:nvCxnSpPr>
        <p:spPr>
          <a:xfrm flipH="true" flipV="true">
            <a:off x="1230630" y="2566670"/>
            <a:ext cx="0" cy="14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true" flipV="true">
            <a:off x="4400550" y="2558415"/>
            <a:ext cx="0" cy="14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729740" y="2526030"/>
            <a:ext cx="2664000" cy="0"/>
          </a:xfrm>
          <a:prstGeom prst="line">
            <a:avLst/>
          </a:prstGeom>
          <a:ln w="28575" cmpd="sng">
            <a:solidFill>
              <a:srgbClr val="00B0F0"/>
            </a:solidFill>
            <a:prstDash val="sysDash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true"/>
          <p:nvPr/>
        </p:nvSpPr>
        <p:spPr>
          <a:xfrm>
            <a:off x="2565400" y="2702560"/>
            <a:ext cx="347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R</a:t>
            </a:r>
            <a:endParaRPr lang="en-US" altLang="zh-CN"/>
          </a:p>
        </p:txBody>
      </p:sp>
      <p:sp>
        <p:nvSpPr>
          <p:cNvPr id="20" name="文本框 19"/>
          <p:cNvSpPr txBox="true"/>
          <p:nvPr/>
        </p:nvSpPr>
        <p:spPr>
          <a:xfrm>
            <a:off x="4438650" y="2390140"/>
            <a:ext cx="297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x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true"/>
              <p:nvPr/>
            </p:nvSpPr>
            <p:spPr>
              <a:xfrm>
                <a:off x="1606550" y="2123440"/>
                <a:ext cx="333375" cy="351155"/>
              </a:xfrm>
              <a:prstGeom prst="rect">
                <a:avLst/>
              </a:prstGeom>
              <a:solidFill>
                <a:srgbClr val="FFFF00">
                  <a:alpha val="36000"/>
                </a:srgbClr>
              </a:solidFill>
              <a:effectLst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’</m:t>
                          </m:r>
                        </m:sup>
                      </m:sSubSup>
                    </m:oMath>
                  </m:oMathPara>
                </a14:m>
                <a:endParaRPr lang="en-US" altLang="zh-CN" sz="1400" b="1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2" name="文本框 21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606550" y="2123440"/>
                <a:ext cx="333375" cy="351155"/>
              </a:xfrm>
              <a:prstGeom prst="rect">
                <a:avLst/>
              </a:prstGeom>
              <a:blipFill rotWithShape="true">
                <a:blip r:embed="rId1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true"/>
              <p:nvPr/>
            </p:nvSpPr>
            <p:spPr>
              <a:xfrm>
                <a:off x="472440" y="2157730"/>
                <a:ext cx="333375" cy="353695"/>
              </a:xfrm>
              <a:prstGeom prst="rect">
                <a:avLst/>
              </a:prstGeom>
              <a:solidFill>
                <a:srgbClr val="FFFF00">
                  <a:alpha val="36000"/>
                </a:srgbClr>
              </a:solidFill>
              <a:effectLst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𝟑</m:t>
                          </m:r>
                        </m:sub>
                        <m:sup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’</m:t>
                          </m:r>
                        </m:sup>
                      </m:sSubSup>
                    </m:oMath>
                  </m:oMathPara>
                </a14:m>
                <a:endParaRPr lang="en-US" altLang="zh-CN" sz="1400" b="1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5" name="文本框 24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472440" y="2157730"/>
                <a:ext cx="333375" cy="353695"/>
              </a:xfrm>
              <a:prstGeom prst="rect">
                <a:avLst/>
              </a:prstGeom>
              <a:blipFill rotWithShape="true">
                <a:blip r:embed="rId2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true"/>
              <p:nvPr/>
            </p:nvSpPr>
            <p:spPr>
              <a:xfrm>
                <a:off x="1063625" y="1590675"/>
                <a:ext cx="333375" cy="351155"/>
              </a:xfrm>
              <a:prstGeom prst="rect">
                <a:avLst/>
              </a:prstGeom>
              <a:solidFill>
                <a:srgbClr val="FFFF00">
                  <a:alpha val="36000"/>
                </a:srgbClr>
              </a:solidFill>
              <a:effectLst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sz="1400" b="1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’</m:t>
                          </m:r>
                        </m:sup>
                      </m:sSubSup>
                    </m:oMath>
                  </m:oMathPara>
                </a14:m>
                <a:endParaRPr lang="en-US" altLang="zh-CN" sz="1400" b="1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26" name="文本框 25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063625" y="1590675"/>
                <a:ext cx="333375" cy="351155"/>
              </a:xfrm>
              <a:prstGeom prst="rect">
                <a:avLst/>
              </a:prstGeom>
              <a:blipFill rotWithShape="true">
                <a:blip r:embed="rId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/>
          <p:cNvSpPr/>
          <p:nvPr/>
        </p:nvSpPr>
        <p:spPr>
          <a:xfrm>
            <a:off x="1734700" y="249047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362450" y="2482215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16465" y="249047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184790" y="191135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92410" y="2490470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1223010" y="1965325"/>
            <a:ext cx="0" cy="54000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648335" y="2533650"/>
            <a:ext cx="574675" cy="635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true" flipV="true">
            <a:off x="1230630" y="2532380"/>
            <a:ext cx="504000" cy="254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/>
          <p:nvPr/>
        </p:nvCxnSpPr>
        <p:spPr>
          <a:xfrm>
            <a:off x="1223010" y="2362835"/>
            <a:ext cx="144000" cy="156845"/>
          </a:xfrm>
          <a:prstGeom prst="bentConnector3">
            <a:avLst>
              <a:gd name="adj1" fmla="val 9921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true"/>
          <p:nvPr/>
        </p:nvSpPr>
        <p:spPr>
          <a:xfrm>
            <a:off x="797560" y="3379470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电流区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137795" y="781685"/>
            <a:ext cx="2378710" cy="2712085"/>
            <a:chOff x="371" y="1165"/>
            <a:chExt cx="3746" cy="4271"/>
          </a:xfrm>
        </p:grpSpPr>
        <p:sp>
          <p:nvSpPr>
            <p:cNvPr id="15" name="椭圆 14"/>
            <p:cNvSpPr/>
            <p:nvPr/>
          </p:nvSpPr>
          <p:spPr>
            <a:xfrm>
              <a:off x="371" y="1435"/>
              <a:ext cx="3746" cy="374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" name="直接箭头连接符 1"/>
            <p:cNvCxnSpPr/>
            <p:nvPr/>
          </p:nvCxnSpPr>
          <p:spPr>
            <a:xfrm>
              <a:off x="2244" y="2458"/>
              <a:ext cx="0" cy="1699"/>
            </a:xfrm>
            <a:prstGeom prst="straightConnector1">
              <a:avLst/>
            </a:prstGeom>
            <a:ln w="4762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箭头连接符 2"/>
            <p:cNvCxnSpPr/>
            <p:nvPr/>
          </p:nvCxnSpPr>
          <p:spPr>
            <a:xfrm>
              <a:off x="1402" y="1462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>
              <a:off x="754" y="1912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4"/>
            <p:cNvCxnSpPr/>
            <p:nvPr/>
          </p:nvCxnSpPr>
          <p:spPr>
            <a:xfrm>
              <a:off x="371" y="3014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>
              <a:off x="754" y="4153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1402" y="4733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>
              <a:off x="2244" y="4926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3057" y="4733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3751" y="4153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4117" y="2998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3751" y="1912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3057" y="1462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2244" y="1165"/>
              <a:ext cx="0" cy="51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endCxn id="15" idx="7"/>
            </p:cNvCxnSpPr>
            <p:nvPr/>
          </p:nvCxnSpPr>
          <p:spPr>
            <a:xfrm flipV="true">
              <a:off x="2245" y="1984"/>
              <a:ext cx="1334" cy="137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true"/>
            <p:nvPr/>
          </p:nvSpPr>
          <p:spPr>
            <a:xfrm>
              <a:off x="2509" y="2209"/>
              <a:ext cx="54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/>
                <a:t>R</a:t>
              </a:r>
              <a:endParaRPr lang="en-US" altLang="zh-CN"/>
            </a:p>
          </p:txBody>
        </p:sp>
        <p:sp>
          <p:nvSpPr>
            <p:cNvPr id="18" name="文本框 17"/>
            <p:cNvSpPr txBox="true"/>
            <p:nvPr/>
          </p:nvSpPr>
          <p:spPr>
            <a:xfrm>
              <a:off x="1769" y="3103"/>
              <a:ext cx="61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p</a:t>
              </a:r>
              <a:endParaRPr lang="en-US" altLang="zh-CN" sz="2400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566" y="2656"/>
              <a:ext cx="1277" cy="1304"/>
              <a:chOff x="3054" y="2941"/>
              <a:chExt cx="1277" cy="1304"/>
            </a:xfrm>
          </p:grpSpPr>
          <p:cxnSp>
            <p:nvCxnSpPr>
              <p:cNvPr id="19" name="直接箭头连接符 18"/>
              <p:cNvCxnSpPr/>
              <p:nvPr/>
            </p:nvCxnSpPr>
            <p:spPr>
              <a:xfrm>
                <a:off x="3054" y="2941"/>
                <a:ext cx="0" cy="13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>
                <a:off x="3389" y="3074"/>
                <a:ext cx="0" cy="10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>
                <a:off x="3727" y="3131"/>
                <a:ext cx="0" cy="9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>
                <a:off x="4056" y="3225"/>
                <a:ext cx="0" cy="73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>
                <a:off x="4331" y="3280"/>
                <a:ext cx="0" cy="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 rot="10800000">
              <a:off x="601" y="2675"/>
              <a:ext cx="1277" cy="1304"/>
              <a:chOff x="3054" y="2941"/>
              <a:chExt cx="1277" cy="1304"/>
            </a:xfrm>
          </p:grpSpPr>
          <p:cxnSp>
            <p:nvCxnSpPr>
              <p:cNvPr id="33" name="直接箭头连接符 32"/>
              <p:cNvCxnSpPr/>
              <p:nvPr/>
            </p:nvCxnSpPr>
            <p:spPr>
              <a:xfrm>
                <a:off x="3054" y="2941"/>
                <a:ext cx="0" cy="130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>
                <a:off x="3389" y="3074"/>
                <a:ext cx="0" cy="10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>
                <a:off x="3727" y="3131"/>
                <a:ext cx="0" cy="96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>
                <a:off x="4056" y="3225"/>
                <a:ext cx="0" cy="73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>
                <a:off x="4331" y="3280"/>
                <a:ext cx="0" cy="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组合 25"/>
          <p:cNvGrpSpPr/>
          <p:nvPr/>
        </p:nvGrpSpPr>
        <p:grpSpPr>
          <a:xfrm>
            <a:off x="2438400" y="2506345"/>
            <a:ext cx="2776855" cy="871855"/>
            <a:chOff x="3251" y="5638"/>
            <a:chExt cx="4373" cy="1373"/>
          </a:xfrm>
        </p:grpSpPr>
        <p:cxnSp>
          <p:nvCxnSpPr>
            <p:cNvPr id="38" name="直接箭头连接符 37"/>
            <p:cNvCxnSpPr/>
            <p:nvPr/>
          </p:nvCxnSpPr>
          <p:spPr>
            <a:xfrm>
              <a:off x="3893" y="5638"/>
              <a:ext cx="0" cy="888"/>
            </a:xfrm>
            <a:prstGeom prst="straightConnector1">
              <a:avLst/>
            </a:prstGeom>
            <a:ln w="2540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/>
            <p:cNvSpPr txBox="true"/>
            <p:nvPr/>
          </p:nvSpPr>
          <p:spPr>
            <a:xfrm>
              <a:off x="4252" y="5792"/>
              <a:ext cx="17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振荡方向</a:t>
              </a:r>
              <a:endParaRPr lang="zh-CN" altLang="en-US" b="1"/>
            </a:p>
          </p:txBody>
        </p:sp>
        <p:cxnSp>
          <p:nvCxnSpPr>
            <p:cNvPr id="40" name="直接箭头连接符 39"/>
            <p:cNvCxnSpPr/>
            <p:nvPr/>
          </p:nvCxnSpPr>
          <p:spPr>
            <a:xfrm>
              <a:off x="3251" y="6821"/>
              <a:ext cx="1020" cy="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true"/>
            <p:nvPr/>
          </p:nvSpPr>
          <p:spPr>
            <a:xfrm>
              <a:off x="4240" y="6431"/>
              <a:ext cx="33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/>
                <a:t>切向（变化不为</a:t>
              </a:r>
              <a:r>
                <a:rPr lang="en-US" altLang="zh-CN" b="1"/>
                <a:t>0</a:t>
              </a:r>
              <a:r>
                <a:rPr lang="zh-CN" altLang="en-US" b="1"/>
                <a:t>）</a:t>
              </a:r>
              <a:endParaRPr lang="zh-CN" altLang="en-US" b="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WPS 演示</Application>
  <PresentationFormat>宽屏</PresentationFormat>
  <Paragraphs>189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DejaVu Math TeX Gyre</vt:lpstr>
      <vt:lpstr>MS Mincho</vt:lpstr>
      <vt:lpstr>微软雅黑</vt:lpstr>
      <vt:lpstr>Arial Unicode MS</vt:lpstr>
      <vt:lpstr>Arial Black</vt:lpstr>
      <vt:lpstr>Gubbi</vt:lpstr>
      <vt:lpstr>Nimbus Roman No9 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</dc:creator>
  <cp:lastModifiedBy>jack</cp:lastModifiedBy>
  <cp:revision>73</cp:revision>
  <dcterms:created xsi:type="dcterms:W3CDTF">2021-07-08T09:18:07Z</dcterms:created>
  <dcterms:modified xsi:type="dcterms:W3CDTF">2021-07-08T09:18:07Z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2052-11.1.0.10161</vt:lpwstr>
  </property>
</Properties>
</file>